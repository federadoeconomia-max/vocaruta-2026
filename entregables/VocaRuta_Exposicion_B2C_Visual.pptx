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dcfb2b197da4390" /><Relationship Type="http://schemas.openxmlformats.org/officeDocument/2006/relationships/extended-properties" Target="/docProps/app.xml" Id="R8342a560f0474a05" /><Relationship Type="http://schemas.openxmlformats.org/officeDocument/2006/relationships/officeDocument" Target="/ppt/presentation.xml" Id="R6033eb87067148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f692d256f24357"/>
  </p:sldMasterIdLst>
  <p:notesMasterIdLst>
    <p:notesMasterId xmlns:r="http://schemas.openxmlformats.org/officeDocument/2006/relationships" r:id="Re5047e7716674068"/>
  </p:notesMasterIdLst>
  <p:sldIdLst>
    <p:sldId xmlns:r="http://schemas.openxmlformats.org/officeDocument/2006/relationships" id="256" r:id="R25de962a04a04a8e"/>
    <p:sldId xmlns:r="http://schemas.openxmlformats.org/officeDocument/2006/relationships" id="257" r:id="Reb98aeec92c14613"/>
    <p:sldId xmlns:r="http://schemas.openxmlformats.org/officeDocument/2006/relationships" id="258" r:id="R9cca1b6f63ca4534"/>
    <p:sldId xmlns:r="http://schemas.openxmlformats.org/officeDocument/2006/relationships" id="259" r:id="R416e183d47b24025"/>
    <p:sldId xmlns:r="http://schemas.openxmlformats.org/officeDocument/2006/relationships" id="260" r:id="R7b5677a100344c7b"/>
    <p:sldId xmlns:r="http://schemas.openxmlformats.org/officeDocument/2006/relationships" id="261" r:id="R0d8877939030481b"/>
    <p:sldId xmlns:r="http://schemas.openxmlformats.org/officeDocument/2006/relationships" id="262" r:id="R204160c3839741b6"/>
    <p:sldId xmlns:r="http://schemas.openxmlformats.org/officeDocument/2006/relationships" id="263" r:id="R1543dffd68a54219"/>
    <p:sldId xmlns:r="http://schemas.openxmlformats.org/officeDocument/2006/relationships" id="264" r:id="Rc4aa8649c3354e1f"/>
    <p:sldId xmlns:r="http://schemas.openxmlformats.org/officeDocument/2006/relationships" id="265" r:id="R859491aedee44b33"/>
    <p:sldId xmlns:r="http://schemas.openxmlformats.org/officeDocument/2006/relationships" id="266" r:id="R442cd8f1d94148b1"/>
    <p:sldId xmlns:r="http://schemas.openxmlformats.org/officeDocument/2006/relationships" id="267" r:id="Rf968b29bd66a49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ccde471854da5" /><Relationship Type="http://schemas.openxmlformats.org/officeDocument/2006/relationships/slideMaster" Target="/ppt/slideMasters/slideMaster1.xml" Id="R6cf692d256f24357" /><Relationship Type="http://schemas.openxmlformats.org/officeDocument/2006/relationships/notesMaster" Target="/ppt/notesMasters/notesMaster1.xml" Id="Re5047e7716674068" /><Relationship Type="http://schemas.openxmlformats.org/officeDocument/2006/relationships/presProps" Target="/ppt/presProps.xml" Id="Rf346f2f720394d82" /><Relationship Type="http://schemas.openxmlformats.org/officeDocument/2006/relationships/tableStyles" Target="/ppt/tableStyles.xml" Id="Rdc805d03c3344071" /><Relationship Type="http://schemas.openxmlformats.org/officeDocument/2006/relationships/slide" Target="/ppt/slides/slide1.xml" Id="R25de962a04a04a8e" /><Relationship Type="http://schemas.openxmlformats.org/officeDocument/2006/relationships/slide" Target="/ppt/slides/slide2.xml" Id="Reb98aeec92c14613" /><Relationship Type="http://schemas.openxmlformats.org/officeDocument/2006/relationships/slide" Target="/ppt/slides/slide3.xml" Id="R9cca1b6f63ca4534" /><Relationship Type="http://schemas.openxmlformats.org/officeDocument/2006/relationships/slide" Target="/ppt/slides/slide4.xml" Id="R416e183d47b24025" /><Relationship Type="http://schemas.openxmlformats.org/officeDocument/2006/relationships/slide" Target="/ppt/slides/slide5.xml" Id="R7b5677a100344c7b" /><Relationship Type="http://schemas.openxmlformats.org/officeDocument/2006/relationships/slide" Target="/ppt/slides/slide6.xml" Id="R0d8877939030481b" /><Relationship Type="http://schemas.openxmlformats.org/officeDocument/2006/relationships/slide" Target="/ppt/slides/slide7.xml" Id="R204160c3839741b6" /><Relationship Type="http://schemas.openxmlformats.org/officeDocument/2006/relationships/slide" Target="/ppt/slides/slide8.xml" Id="R1543dffd68a54219" /><Relationship Type="http://schemas.openxmlformats.org/officeDocument/2006/relationships/slide" Target="/ppt/slides/slide9.xml" Id="Rc4aa8649c3354e1f" /><Relationship Type="http://schemas.openxmlformats.org/officeDocument/2006/relationships/slide" Target="/ppt/slides/slide10.xml" Id="R859491aedee44b33" /><Relationship Type="http://schemas.openxmlformats.org/officeDocument/2006/relationships/slide" Target="/ppt/slides/slide11.xml" Id="R442cd8f1d94148b1" /><Relationship Type="http://schemas.openxmlformats.org/officeDocument/2006/relationships/slide" Target="/ppt/slides/slide12.xml" Id="Rf968b29bd66a49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b4a232628645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d47cfa16db4b46" /><Relationship Type="http://schemas.openxmlformats.org/officeDocument/2006/relationships/notesMaster" Target="/ppt/notesMasters/notesMaster1.xml" Id="R2bedc3e62a744e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db913b0a2f47af" /><Relationship Type="http://schemas.openxmlformats.org/officeDocument/2006/relationships/notesMaster" Target="/ppt/notesMasters/notesMaster1.xml" Id="R92910a0e244548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5ee4f3350d4980" /><Relationship Type="http://schemas.openxmlformats.org/officeDocument/2006/relationships/notesMaster" Target="/ppt/notesMasters/notesMaster1.xml" Id="R4d91cc774e484f8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a13662b52c4de5" /><Relationship Type="http://schemas.openxmlformats.org/officeDocument/2006/relationships/notesMaster" Target="/ppt/notesMasters/notesMaster1.xml" Id="R78d8da225f8f4e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ccd22d85de74bc9" /><Relationship Type="http://schemas.openxmlformats.org/officeDocument/2006/relationships/notesMaster" Target="/ppt/notesMasters/notesMaster1.xml" Id="Rfbc093f6855e411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120eef380d4d62" /><Relationship Type="http://schemas.openxmlformats.org/officeDocument/2006/relationships/notesMaster" Target="/ppt/notesMasters/notesMaster1.xml" Id="R877ed43bfdd84ff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3c67d0fc48423e" /><Relationship Type="http://schemas.openxmlformats.org/officeDocument/2006/relationships/notesMaster" Target="/ppt/notesMasters/notesMaster1.xml" Id="R274bd4db461f46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97230beb474cec" /><Relationship Type="http://schemas.openxmlformats.org/officeDocument/2006/relationships/notesMaster" Target="/ppt/notesMasters/notesMaster1.xml" Id="R50d9b0f3bce84e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0114b0142b4a42" /><Relationship Type="http://schemas.openxmlformats.org/officeDocument/2006/relationships/notesMaster" Target="/ppt/notesMasters/notesMaster1.xml" Id="R3719fdbbd61a42e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147452a0fea4c69" /><Relationship Type="http://schemas.openxmlformats.org/officeDocument/2006/relationships/notesMaster" Target="/ppt/notesMasters/notesMaster1.xml" Id="Rf92af21ea65546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61ecea9891e48e3" /><Relationship Type="http://schemas.openxmlformats.org/officeDocument/2006/relationships/notesMaster" Target="/ppt/notesMasters/notesMaster1.xml" Id="Rc30c235d1eb647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1fe913f985426c" /><Relationship Type="http://schemas.openxmlformats.org/officeDocument/2006/relationships/notesMaster" Target="/ppt/notesMasters/notesMaster1.xml" Id="R00a056af357e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Presentar VocaRuta como piloto B2C para estudiantes de 4.º y 5.º de secundaria. La imagen es conceptual, generada para ilustrar la idea.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Fuente: Minedu, Factores asociados ENLA 2025, https://umc.minedu.gob.pe/wp-content/uploads/2026/05/Presentacion-de-factores-asociados-ENLA-2025.pdf . El 72 % se refiere a seguridad para escoger entre varias carreras de interés. Nuestra hipótesis es que falta experimentar tareas para contrastar mejor la elección. Imagen conceptual generada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Cadena de cinco porqués planteada como hipótesis de equipo, no como hallazgo de entrevistas. La sesión 6 del profesor presenta la técnica: MCH - Sesión 6 The 5 Why’s-1.pdf. La causa propuesta guía la función Prueba la carrera.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El proyecto se enfoca en B2C. El estudiante es usuario y cliente potencial; su disposición de pago sigue sin validarse. La imagen es conceptual y no documenta una prueba real.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 el MVP se pueden recorrer estas cinco etapas. Hay 15 preguntas, 10 perfiles de carrera de ejemplo, cuatro casos breves, comparador y reporte. La afinidad es exploratoria; el contenido requiere revisión experta. Fuente del enfoque MVP: MCH - Sesión 5 MVP-1.pdf.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Los nueve bloques son hipótesis de negocio para el enfoque B2C. No existen ventas, alianzas ni cifras de costo medidas. Fuente metodológica: MCH - Sesión 7 Canvas-1.pdf, proporcionado por el usuario.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sesión 8 del profesor presenta las 4P y las 5C. Se eligen las 4P por su vínculo directo con decisiones tácticas de este MVP B2C. Las 5C pueden complementar el análisis cuando haya evidencia del mercado. Fuente: MCH - Sesión 8 Marketing-1.pdf.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Producto y plaza se muestran en el MVP actual. El pago único y los canales promocionales son hipótesis; no hay ventas ni campañas medidas. Fuente metodológica: MCH - Sesión 8 Marketing-1.pdf.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Estos componentes se verificaron en el MVP: 15 preguntas, 10 perfiles de ejemplo, cuatro casos breves, comparación y reporte. El avance se guarda en localStorage. No se presenta como prueba psicométrica validada ni como 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sesión 5 del profesor indica que el MVP sirve para comprobar o rechazar hipótesis con datos reales. No se han afirmado entrevistas, conversiones ni ventas. Fuente: MCH - Sesión 5 MVP-1.pdf.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el MVP en el navegador. Entrar sin cuenta, contestar el cuestionario, explicar la afinidad como guía exploratoria, completar un caso, comparar y abrir el reporte. Si el tiempo es corto, preparar un avance previo en el mismo navegador porque el estado persiste localmente.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recordando que el piloto busca que el estudiante contraste alternativas. No prometer certeza sobre la carrera correcta. Imagen conceptual generada para esta presentación.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fcd3c4ed21405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884cb516f845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6f3c1691764d0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1bcaf2cdd746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6150b4a0243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ac1680ec204f8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A3CA7F-BDA4-410E-A090-E01AFF0BA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8CCC441-E06C-457B-8BBB-6E3C8C74F2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057C52-C498-4261-8848-9EA948B1AF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08CBAA-EA98-400E-AA92-44144512E0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51A15DF-36B1-4137-9D63-94C137B2F5D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EC5D2B7-89F6-4649-841B-42E877C4F6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B0485F0-9D82-4928-9992-70418BF9C0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715D006-586D-4BF7-ADBA-198120D709B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B8DE49-7D12-4ACC-AD47-7D1A97540D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64516B7-5A2E-4E59-926B-9E46673CC2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8afaa097a64d68" /><Relationship Type="http://schemas.openxmlformats.org/officeDocument/2006/relationships/slideLayout" Target="/ppt/slideLayouts/slideLayout1.xml" Id="R9713de2a6abd40dc" /><Relationship Type="http://schemas.openxmlformats.org/officeDocument/2006/relationships/slideLayout" Target="/ppt/slideLayouts/slideLayout2.xml" Id="R03fc1e6849164017" /><Relationship Type="http://schemas.openxmlformats.org/officeDocument/2006/relationships/slideLayout" Target="/ppt/slideLayouts/slideLayout3.xml" Id="Rab00a52262764e85" /><Relationship Type="http://schemas.openxmlformats.org/officeDocument/2006/relationships/slideLayout" Target="/ppt/slideLayouts/slideLayout4.xml" Id="R83f6c41c9d1e40c5" /><Relationship Type="http://schemas.openxmlformats.org/officeDocument/2006/relationships/slideLayout" Target="/ppt/slideLayouts/slideLayout5.xml" Id="R1c4716ff51de4536" /><Relationship Type="http://schemas.openxmlformats.org/officeDocument/2006/relationships/slideLayout" Target="/ppt/slideLayouts/slideLayout6.xml" Id="Rde4651e3d44248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713de2a6abd40dc"/>
    <p:sldLayoutId xmlns:r="http://schemas.openxmlformats.org/officeDocument/2006/relationships" id="2147483650" r:id="R03fc1e6849164017"/>
    <p:sldLayoutId xmlns:r="http://schemas.openxmlformats.org/officeDocument/2006/relationships" id="2147483651" r:id="Rab00a52262764e85"/>
    <p:sldLayoutId xmlns:r="http://schemas.openxmlformats.org/officeDocument/2006/relationships" id="2147483652" r:id="R83f6c41c9d1e40c5"/>
    <p:sldLayoutId xmlns:r="http://schemas.openxmlformats.org/officeDocument/2006/relationships" id="2147483653" r:id="R1c4716ff51de4536"/>
    <p:sldLayoutId xmlns:r="http://schemas.openxmlformats.org/officeDocument/2006/relationships" id="2147483654" r:id="Rde4651e3d44248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17767151424adb" /><Relationship Type="http://schemas.openxmlformats.org/officeDocument/2006/relationships/image" Target="/ppt/media/image.png" Id="R7bd508f0be2c4b02" /><Relationship Type="http://schemas.openxmlformats.org/officeDocument/2006/relationships/notesSlide" Target="/ppt/notesSlides/notesSlide1.xml" Id="R30bccd2a048c4fe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35e682e61c48b0" /><Relationship Type="http://schemas.openxmlformats.org/officeDocument/2006/relationships/image" Target="/ppt/media/image2.png" Id="Rff51fa8f7acf4624" /><Relationship Type="http://schemas.openxmlformats.org/officeDocument/2006/relationships/notesSlide" Target="/ppt/notesSlides/notesSlide2.xml" Id="R271ac1148de947e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a563269ce54c0c" /><Relationship Type="http://schemas.openxmlformats.org/officeDocument/2006/relationships/notesSlide" Target="/ppt/notesSlides/notesSlide3.xml" Id="Rc6d33ceb299f44e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31a34641db4d09" /><Relationship Type="http://schemas.openxmlformats.org/officeDocument/2006/relationships/image" Target="/ppt/media/image3.png" Id="R510f4a0dfca04512" /><Relationship Type="http://schemas.openxmlformats.org/officeDocument/2006/relationships/notesSlide" Target="/ppt/notesSlides/notesSlide4.xml" Id="R5aa4af0be43245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dbe7b64bcb4f32" /><Relationship Type="http://schemas.openxmlformats.org/officeDocument/2006/relationships/notesSlide" Target="/ppt/notesSlides/notesSlide5.xml" Id="R51caee703f1944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cbe15dfd41492d" /><Relationship Type="http://schemas.openxmlformats.org/officeDocument/2006/relationships/notesSlide" Target="/ppt/notesSlides/notesSlide6.xml" Id="Re1312bcc449349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09ce1f2644c6e" /><Relationship Type="http://schemas.openxmlformats.org/officeDocument/2006/relationships/notesSlide" Target="/ppt/notesSlides/notesSlide7.xml" Id="R5610c03f1f9447d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3cc06f6679441d" /><Relationship Type="http://schemas.openxmlformats.org/officeDocument/2006/relationships/notesSlide" Target="/ppt/notesSlides/notesSlide8.xml" Id="R5316f091d17f46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69656bdafa54ba5" /><Relationship Type="http://schemas.openxmlformats.org/officeDocument/2006/relationships/notesSlide" Target="/ppt/notesSlides/notesSlide9.xml" Id="Rfcd31fe824dd447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25ae74830e4286" /><Relationship Type="http://schemas.openxmlformats.org/officeDocument/2006/relationships/notesSlide" Target="/ppt/notesSlides/notesSlide10.xml" Id="Rbce6a955eda046d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0479dc7954bcf" /><Relationship Type="http://schemas.openxmlformats.org/officeDocument/2006/relationships/notesSlide" Target="/ppt/notesSlides/notesSlide11.xml" Id="R6dd829c351f642e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70ce45a6fe48e8" /><Relationship Type="http://schemas.openxmlformats.org/officeDocument/2006/relationships/image" Target="/ppt/media/image4.png" Id="R028e0f33ec784509" /><Relationship Type="http://schemas.openxmlformats.org/officeDocument/2006/relationships/notesSlide" Target="/ppt/notesSlides/notesSlide12.xml" Id="R652449a3d22b4f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64DA1-AAAB-4266-8EBD-95214DBAFB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d508f0be2c4b0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VocaRuta">
            <a:extLst xmlns:a="http://schemas.openxmlformats.org/drawingml/2006/main">
              <a:ext uri="{FF2B5EF4-FFF2-40B4-BE49-F238E27FC236}">
                <a16:creationId xmlns:a16="http://schemas.microsoft.com/office/drawing/2014/main" id="{DC221485-F837-4BCB-95D3-E6026A74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81150"/>
            <a:ext cx="581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3" name="Explorar una carrera antes d">
            <a:extLst xmlns:a="http://schemas.openxmlformats.org/drawingml/2006/main">
              <a:ext uri="{FF2B5EF4-FFF2-40B4-BE49-F238E27FC236}">
                <a16:creationId xmlns:a16="http://schemas.microsoft.com/office/drawing/2014/main" id="{5683C1B2-1056-41FF-B539-23D9CEC7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47950"/>
            <a:ext cx="5381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Explorar una carrera antes de elegirla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688866D2-776A-44E6-B972-BDC966DA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019550"/>
            <a:ext cx="904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roblema · cinco porqués · m">
            <a:extLst xmlns:a="http://schemas.openxmlformats.org/drawingml/2006/main">
              <a:ext uri="{FF2B5EF4-FFF2-40B4-BE49-F238E27FC236}">
                <a16:creationId xmlns:a16="http://schemas.microsoft.com/office/drawing/2014/main" id="{8197AFD8-71A7-4568-B552-69043A51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314825"/>
            <a:ext cx="561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Problema · cinco porqués · modelo B2C · marketing</a:t>
            </a:r>
          </a:p>
        </p:txBody>
      </p:sp>
      <p:sp>
        <p:nvSpPr>
          <p:cNvPr id="6" name="Juan Mendoza  ·  Elienai Ram">
            <a:extLst xmlns:a="http://schemas.openxmlformats.org/drawingml/2006/main">
              <a:ext uri="{FF2B5EF4-FFF2-40B4-BE49-F238E27FC236}">
                <a16:creationId xmlns:a16="http://schemas.microsoft.com/office/drawing/2014/main" id="{0EAD070C-9DCF-43C7-9E56-53E3FFAB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43625"/>
            <a:ext cx="1019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Juan Mendoza  ·  Elienai Ramos  ·  Mayela Ticona  ·  Carlos Valeriano</a:t>
            </a:r>
          </a:p>
        </p:txBody>
      </p:sp>
    </p:spTree>
    <p:extLst>
      <p:ext uri="{BB962C8B-B14F-4D97-AF65-F5344CB8AC3E}">
        <p14:creationId xmlns:p14="http://schemas.microsoft.com/office/powerpoint/2010/main" val="9547855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819C3C-4920-4593-BB4B-15D11A4ED0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51fa8f7acf462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53564E22-098E-4A08-B8E9-30C61996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048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EL PROBLEMA">
            <a:extLst xmlns:a="http://schemas.openxmlformats.org/drawingml/2006/main">
              <a:ext uri="{FF2B5EF4-FFF2-40B4-BE49-F238E27FC236}">
                <a16:creationId xmlns:a16="http://schemas.microsoft.com/office/drawing/2014/main" id="{B029297C-0294-4FF1-9281-14A90FF6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EL PROBLEMA</a:t>
            </a:r>
          </a:p>
        </p:txBody>
      </p:sp>
      <p:sp>
        <p:nvSpPr>
          <p:cNvPr id="4" name="Elegir con seguridad no siem">
            <a:extLst xmlns:a="http://schemas.openxmlformats.org/drawingml/2006/main">
              <a:ext uri="{FF2B5EF4-FFF2-40B4-BE49-F238E27FC236}">
                <a16:creationId xmlns:a16="http://schemas.microsoft.com/office/drawing/2014/main" id="{177C2750-6A9F-4CB2-BC76-6BB9D37D7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95375"/>
            <a:ext cx="504825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Elegir con seguridad no siempre significa haber probado</a:t>
            </a:r>
          </a:p>
        </p:txBody>
      </p:sp>
      <p:sp>
        <p:nvSpPr>
          <p:cNvPr id="5" name="72 %">
            <a:extLst xmlns:a="http://schemas.openxmlformats.org/drawingml/2006/main">
              <a:ext uri="{FF2B5EF4-FFF2-40B4-BE49-F238E27FC236}">
                <a16:creationId xmlns:a16="http://schemas.microsoft.com/office/drawing/2014/main" id="{29A887F0-FF11-4FC6-AFEE-93F6CFCCD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38500"/>
            <a:ext cx="4667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66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66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66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72 %</a:t>
            </a:r>
          </a:p>
        </p:txBody>
      </p:sp>
      <p:sp>
        <p:nvSpPr>
          <p:cNvPr id="6" name="se siente seguro o muy segur">
            <a:extLst xmlns:a="http://schemas.openxmlformats.org/drawingml/2006/main">
              <a:ext uri="{FF2B5EF4-FFF2-40B4-BE49-F238E27FC236}">
                <a16:creationId xmlns:a16="http://schemas.microsoft.com/office/drawing/2014/main" id="{2692D3F2-8174-4B0F-B653-8257946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4714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se siente seguro o muy seguro al elegir entre carreras que le interesan.</a:t>
            </a:r>
          </a:p>
        </p:txBody>
      </p:sp>
      <p:sp>
        <p:nvSpPr>
          <p:cNvPr id="7" name="ENLA 2025, 5.º de secundaria">
            <a:extLst xmlns:a="http://schemas.openxmlformats.org/drawingml/2006/main">
              <a:ext uri="{FF2B5EF4-FFF2-40B4-BE49-F238E27FC236}">
                <a16:creationId xmlns:a16="http://schemas.microsoft.com/office/drawing/2014/main" id="{E299B0B4-9BC9-4F57-9C9D-B223FD35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24525"/>
            <a:ext cx="4810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ENLA 2025, 5.º de secundaria. Seguridad percibida, no calidad de la decisión.</a:t>
            </a:r>
          </a:p>
        </p:txBody>
      </p:sp>
    </p:spTree>
    <p:extLst>
      <p:ext uri="{BB962C8B-B14F-4D97-AF65-F5344CB8AC3E}">
        <p14:creationId xmlns:p14="http://schemas.microsoft.com/office/powerpoint/2010/main" val="3924354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9AA345F4-86E7-444F-8A6A-39004FDC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os cinco porqués">
            <a:extLst xmlns:a="http://schemas.openxmlformats.org/drawingml/2006/main">
              <a:ext uri="{FF2B5EF4-FFF2-40B4-BE49-F238E27FC236}">
                <a16:creationId xmlns:a16="http://schemas.microsoft.com/office/drawing/2014/main" id="{EA866860-082D-46B6-8898-39ED1FAB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Los cinco porqués</a:t>
            </a:r>
          </a:p>
        </p:txBody>
      </p:sp>
      <p:sp>
        <p:nvSpPr>
          <p:cNvPr id="3" name="Hipótesis causal para contra">
            <a:extLst xmlns:a="http://schemas.openxmlformats.org/drawingml/2006/main">
              <a:ext uri="{FF2B5EF4-FFF2-40B4-BE49-F238E27FC236}">
                <a16:creationId xmlns:a16="http://schemas.microsoft.com/office/drawing/2014/main" id="{8E7C3C66-EC62-4671-942C-D389178A0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Hipótesis causal para contrastar con estudiantes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C05FDAF-12C9-4C2B-8CB2-7B81A974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736CC16D-6C17-48A9-BF61-47B801492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3">
            <a:extLst xmlns:a="http://schemas.openxmlformats.org/drawingml/2006/main">
              <a:ext uri="{FF2B5EF4-FFF2-40B4-BE49-F238E27FC236}">
                <a16:creationId xmlns:a16="http://schemas.microsoft.com/office/drawing/2014/main" id="{E915AC3C-20B5-43F8-A50B-BF2C466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80246A92-C595-4C55-B265-618E3DFE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66900"/>
            <a:ext cx="3810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so 1">
            <a:extLst xmlns:a="http://schemas.openxmlformats.org/drawingml/2006/main">
              <a:ext uri="{FF2B5EF4-FFF2-40B4-BE49-F238E27FC236}">
                <a16:creationId xmlns:a16="http://schemas.microsoft.com/office/drawing/2014/main" id="{7968B9B1-7661-4283-AC2E-3931A6C4C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1">
            <a:extLst xmlns:a="http://schemas.openxmlformats.org/drawingml/2006/main">
              <a:ext uri="{FF2B5EF4-FFF2-40B4-BE49-F238E27FC236}">
                <a16:creationId xmlns:a16="http://schemas.microsoft.com/office/drawing/2014/main" id="{B4F00827-C552-4771-9BBC-78903E16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0" name="Cuesta elegir">
            <a:extLst xmlns:a="http://schemas.openxmlformats.org/drawingml/2006/main">
              <a:ext uri="{FF2B5EF4-FFF2-40B4-BE49-F238E27FC236}">
                <a16:creationId xmlns:a16="http://schemas.microsoft.com/office/drawing/2014/main" id="{63A8AA08-FD82-4741-81F4-90939A9E8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74307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Cuesta elegir</a:t>
            </a:r>
          </a:p>
        </p:txBody>
      </p:sp>
      <p:sp>
        <p:nvSpPr>
          <p:cNvPr id="11" name="faltan evidencias para compa">
            <a:extLst xmlns:a="http://schemas.openxmlformats.org/drawingml/2006/main">
              <a:ext uri="{FF2B5EF4-FFF2-40B4-BE49-F238E27FC236}">
                <a16:creationId xmlns:a16="http://schemas.microsoft.com/office/drawing/2014/main" id="{EEFC6C9D-F2B5-4688-8896-6005093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4307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faltan evidencias para comparar alternativas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2A4F2FFE-DB67-4CB8-B56B-62651F61F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486025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so 2">
            <a:extLst xmlns:a="http://schemas.openxmlformats.org/drawingml/2006/main">
              <a:ext uri="{FF2B5EF4-FFF2-40B4-BE49-F238E27FC236}">
                <a16:creationId xmlns:a16="http://schemas.microsoft.com/office/drawing/2014/main" id="{D0EF4E99-7AA3-43D6-960C-FF42B2EAE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2">
            <a:extLst xmlns:a="http://schemas.openxmlformats.org/drawingml/2006/main">
              <a:ext uri="{FF2B5EF4-FFF2-40B4-BE49-F238E27FC236}">
                <a16:creationId xmlns:a16="http://schemas.microsoft.com/office/drawing/2014/main" id="{464ACD35-78F3-4C3C-B26C-1F90AD97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" name="Faltan evidencias">
            <a:extLst xmlns:a="http://schemas.openxmlformats.org/drawingml/2006/main">
              <a:ext uri="{FF2B5EF4-FFF2-40B4-BE49-F238E27FC236}">
                <a16:creationId xmlns:a16="http://schemas.microsoft.com/office/drawing/2014/main" id="{FB8CD17F-7010-437F-BCC6-3A526D0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61937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Faltan evidencias</a:t>
            </a:r>
          </a:p>
        </p:txBody>
      </p:sp>
      <p:sp>
        <p:nvSpPr>
          <p:cNvPr id="16" name="la información aparece dispe">
            <a:extLst xmlns:a="http://schemas.openxmlformats.org/drawingml/2006/main">
              <a:ext uri="{FF2B5EF4-FFF2-40B4-BE49-F238E27FC236}">
                <a16:creationId xmlns:a16="http://schemas.microsoft.com/office/drawing/2014/main" id="{BCBF50E0-C77D-4EA8-938C-9AF3B8F2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61937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la información aparece dispersa</a:t>
            </a:r>
          </a:p>
        </p:txBody>
      </p:sp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A2855270-3220-4B1C-AB93-14E7C3CCC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362325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aso 3">
            <a:extLst xmlns:a="http://schemas.openxmlformats.org/drawingml/2006/main">
              <a:ext uri="{FF2B5EF4-FFF2-40B4-BE49-F238E27FC236}">
                <a16:creationId xmlns:a16="http://schemas.microsoft.com/office/drawing/2014/main" id="{D5B990CB-86EE-4343-B920-5E694742C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3">
            <a:extLst xmlns:a="http://schemas.openxmlformats.org/drawingml/2006/main">
              <a:ext uri="{FF2B5EF4-FFF2-40B4-BE49-F238E27FC236}">
                <a16:creationId xmlns:a16="http://schemas.microsoft.com/office/drawing/2014/main" id="{3FF56A34-AF6F-4B98-A346-0BCDAD042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385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0" name="La búsqueda no basta">
            <a:extLst xmlns:a="http://schemas.openxmlformats.org/drawingml/2006/main">
              <a:ext uri="{FF2B5EF4-FFF2-40B4-BE49-F238E27FC236}">
                <a16:creationId xmlns:a16="http://schemas.microsoft.com/office/drawing/2014/main" id="{D46B0534-1B2E-4191-A08F-C4F5F082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49567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búsqueda no basta</a:t>
            </a:r>
          </a:p>
        </p:txBody>
      </p:sp>
      <p:sp>
        <p:nvSpPr>
          <p:cNvPr id="21" name="leer y hacer un test muestra">
            <a:extLst xmlns:a="http://schemas.openxmlformats.org/drawingml/2006/main">
              <a:ext uri="{FF2B5EF4-FFF2-40B4-BE49-F238E27FC236}">
                <a16:creationId xmlns:a16="http://schemas.microsoft.com/office/drawing/2014/main" id="{A8AF77A1-B384-41DF-BAA9-0970C69F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9567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leer y hacer un test muestran poco del trabajo diario</a:t>
            </a:r>
          </a:p>
        </p:txBody>
      </p:sp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618C6F15-7884-4F62-B055-07128D9E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38625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so 4">
            <a:extLst xmlns:a="http://schemas.openxmlformats.org/drawingml/2006/main">
              <a:ext uri="{FF2B5EF4-FFF2-40B4-BE49-F238E27FC236}">
                <a16:creationId xmlns:a16="http://schemas.microsoft.com/office/drawing/2014/main" id="{C44E431B-4FA4-4807-B735-3EB4673C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4">
            <a:extLst xmlns:a="http://schemas.openxmlformats.org/drawingml/2006/main">
              <a:ext uri="{FF2B5EF4-FFF2-40B4-BE49-F238E27FC236}">
                <a16:creationId xmlns:a16="http://schemas.microsoft.com/office/drawing/2014/main" id="{7257F721-2D3B-4F97-9A4B-B2496BF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148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5" name="No se prueban tareas">
            <a:extLst xmlns:a="http://schemas.openxmlformats.org/drawingml/2006/main">
              <a:ext uri="{FF2B5EF4-FFF2-40B4-BE49-F238E27FC236}">
                <a16:creationId xmlns:a16="http://schemas.microsoft.com/office/drawing/2014/main" id="{F8385882-7C01-4CDD-927F-EA094F01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37197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No se prueban tareas</a:t>
            </a:r>
          </a:p>
        </p:txBody>
      </p:sp>
      <p:sp>
        <p:nvSpPr>
          <p:cNvPr id="26" name="hay pocas experiencias breve">
            <a:extLst xmlns:a="http://schemas.openxmlformats.org/drawingml/2006/main">
              <a:ext uri="{FF2B5EF4-FFF2-40B4-BE49-F238E27FC236}">
                <a16:creationId xmlns:a16="http://schemas.microsoft.com/office/drawing/2014/main" id="{F1F284B0-C8E5-438E-BFC2-336C06892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37197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hay pocas experiencias breves y accesibles</a:t>
            </a:r>
          </a:p>
        </p:txBody>
      </p:sp>
      <p:sp>
        <p:nvSpPr>
          <p:cNvPr id="27" name="shape">
            <a:extLst xmlns:a="http://schemas.openxmlformats.org/drawingml/2006/main">
              <a:ext uri="{FF2B5EF4-FFF2-40B4-BE49-F238E27FC236}">
                <a16:creationId xmlns:a16="http://schemas.microsoft.com/office/drawing/2014/main" id="{3A91639C-2BC2-406F-9BC3-309160DB0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114925"/>
            <a:ext cx="9601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so 5">
            <a:extLst xmlns:a="http://schemas.openxmlformats.org/drawingml/2006/main">
              <a:ext uri="{FF2B5EF4-FFF2-40B4-BE49-F238E27FC236}">
                <a16:creationId xmlns:a16="http://schemas.microsoft.com/office/drawing/2014/main" id="{55050E3E-1727-4A87-AB3B-6D27649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5">
            <a:extLst xmlns:a="http://schemas.openxmlformats.org/drawingml/2006/main">
              <a:ext uri="{FF2B5EF4-FFF2-40B4-BE49-F238E27FC236}">
                <a16:creationId xmlns:a16="http://schemas.microsoft.com/office/drawing/2014/main" id="{9DC1F566-49D2-4582-BA2B-1AF81759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30" name="Causa propuesta">
            <a:extLst xmlns:a="http://schemas.openxmlformats.org/drawingml/2006/main">
              <a:ext uri="{FF2B5EF4-FFF2-40B4-BE49-F238E27FC236}">
                <a16:creationId xmlns:a16="http://schemas.microsoft.com/office/drawing/2014/main" id="{61332F57-4755-4E30-8950-67901D13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248275"/>
            <a:ext cx="3381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Causa propuesta</a:t>
            </a:r>
          </a:p>
        </p:txBody>
      </p:sp>
      <p:sp>
        <p:nvSpPr>
          <p:cNvPr id="31" name="falta una etapa práctica ant">
            <a:extLst xmlns:a="http://schemas.openxmlformats.org/drawingml/2006/main">
              <a:ext uri="{FF2B5EF4-FFF2-40B4-BE49-F238E27FC236}">
                <a16:creationId xmlns:a16="http://schemas.microsoft.com/office/drawing/2014/main" id="{49EEB37A-6DC3-4B99-AC7C-1CB9FD13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248275"/>
            <a:ext cx="6048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falta una etapa práctica antes de decidir</a:t>
            </a:r>
          </a:p>
        </p:txBody>
      </p:sp>
    </p:spTree>
    <p:extLst>
      <p:ext uri="{BB962C8B-B14F-4D97-AF65-F5344CB8AC3E}">
        <p14:creationId xmlns:p14="http://schemas.microsoft.com/office/powerpoint/2010/main" val="7659755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0AE2A2-D913-4C46-90DC-85C176B2BF9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0f4a0dfca0451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hape">
            <a:extLst xmlns:a="http://schemas.openxmlformats.org/drawingml/2006/main">
              <a:ext uri="{FF2B5EF4-FFF2-40B4-BE49-F238E27FC236}">
                <a16:creationId xmlns:a16="http://schemas.microsoft.com/office/drawing/2014/main" id="{EA508C84-9642-4D9B-BEF6-9B8A2C1A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0"/>
            <a:ext cx="49053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PRIMER CLIENTE">
            <a:extLst xmlns:a="http://schemas.openxmlformats.org/drawingml/2006/main">
              <a:ext uri="{FF2B5EF4-FFF2-40B4-BE49-F238E27FC236}">
                <a16:creationId xmlns:a16="http://schemas.microsoft.com/office/drawing/2014/main" id="{F556242F-0F88-4CD9-837F-E6EB2254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4295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F4B94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B942"/>
                </a:solidFill>
                <a:latin typeface="Arial"/>
                <a:ea typeface="Arial"/>
                <a:cs typeface="Arial"/>
              </a:rPr>
              <a:t>PRIMER CLIENTE</a:t>
            </a:r>
          </a:p>
        </p:txBody>
      </p:sp>
      <p:sp>
        <p:nvSpPr>
          <p:cNvPr id="4" name="El estudiante que ya compara">
            <a:extLst xmlns:a="http://schemas.openxmlformats.org/drawingml/2006/main">
              <a:ext uri="{FF2B5EF4-FFF2-40B4-BE49-F238E27FC236}">
                <a16:creationId xmlns:a16="http://schemas.microsoft.com/office/drawing/2014/main" id="{A9CE363D-A3F7-440F-8087-04A5512F3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343025"/>
            <a:ext cx="3943350" cy="1781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El estudiante que ya compara opciones</a:t>
            </a:r>
          </a:p>
        </p:txBody>
      </p:sp>
      <p:sp>
        <p:nvSpPr>
          <p:cNvPr id="5" name="shape">
            <a:extLst xmlns:a="http://schemas.openxmlformats.org/drawingml/2006/main">
              <a:ext uri="{FF2B5EF4-FFF2-40B4-BE49-F238E27FC236}">
                <a16:creationId xmlns:a16="http://schemas.microsoft.com/office/drawing/2014/main" id="{4E1EF686-094E-4088-80F5-A2786EB0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904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4.º y 5.º de secundaria">
            <a:extLst xmlns:a="http://schemas.openxmlformats.org/drawingml/2006/main">
              <a:ext uri="{FF2B5EF4-FFF2-40B4-BE49-F238E27FC236}">
                <a16:creationId xmlns:a16="http://schemas.microsoft.com/office/drawing/2014/main" id="{E310C5BC-CDAA-4AC4-847D-36BDBBF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76650"/>
            <a:ext cx="39147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D9EF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D9EFF9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D9EFF9"/>
                </a:solidFill>
                <a:latin typeface="Arial"/>
                <a:ea typeface="Arial"/>
                <a:cs typeface="Arial"/>
              </a:rPr>
              <a:t>4.º y 5.º de secundaria</a:t>
            </a:r>
          </a:p>
        </p:txBody>
      </p:sp>
      <p:sp>
        <p:nvSpPr>
          <p:cNvPr id="7" name="Quiere entender sus afinidad">
            <a:extLst xmlns:a="http://schemas.openxmlformats.org/drawingml/2006/main">
              <a:ext uri="{FF2B5EF4-FFF2-40B4-BE49-F238E27FC236}">
                <a16:creationId xmlns:a16="http://schemas.microsoft.com/office/drawing/2014/main" id="{AC808470-4984-48EA-8BE5-979C8AB0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52925"/>
            <a:ext cx="3857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Quiere entender sus afinidades y probar una tarea antes de profundizar en una carrera.</a:t>
            </a:r>
          </a:p>
        </p:txBody>
      </p:sp>
      <p:sp>
        <p:nvSpPr>
          <p:cNvPr id="8" name="Piloto directo al estudiante">
            <a:extLst xmlns:a="http://schemas.openxmlformats.org/drawingml/2006/main">
              <a:ext uri="{FF2B5EF4-FFF2-40B4-BE49-F238E27FC236}">
                <a16:creationId xmlns:a16="http://schemas.microsoft.com/office/drawing/2014/main" id="{E34A66B7-EE18-417D-9C19-D4A4CF554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6010275"/>
            <a:ext cx="38957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D9EF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D9EFF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9EFF9"/>
                </a:solidFill>
                <a:latin typeface="Arial"/>
                <a:ea typeface="Arial"/>
                <a:cs typeface="Arial"/>
              </a:rPr>
              <a:t>Piloto directo al estudiante</a:t>
            </a:r>
          </a:p>
        </p:txBody>
      </p:sp>
    </p:spTree>
    <p:extLst>
      <p:ext uri="{BB962C8B-B14F-4D97-AF65-F5344CB8AC3E}">
        <p14:creationId xmlns:p14="http://schemas.microsoft.com/office/powerpoint/2010/main" val="17697355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shape">
            <a:extLst xmlns:a="http://schemas.openxmlformats.org/drawingml/2006/main">
              <a:ext uri="{FF2B5EF4-FFF2-40B4-BE49-F238E27FC236}">
                <a16:creationId xmlns:a16="http://schemas.microsoft.com/office/drawing/2014/main" id="{B4FF549C-0CBF-4FFD-9B3A-3D439C56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 ruta de VocaRuta">
            <a:extLst xmlns:a="http://schemas.openxmlformats.org/drawingml/2006/main">
              <a:ext uri="{FF2B5EF4-FFF2-40B4-BE49-F238E27FC236}">
                <a16:creationId xmlns:a16="http://schemas.microsoft.com/office/drawing/2014/main" id="{3C49F69A-F5B7-4B2C-AB54-E364DAEF4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 ruta de VocaRuta</a:t>
            </a:r>
          </a:p>
        </p:txBody>
      </p:sp>
      <p:sp>
        <p:nvSpPr>
          <p:cNvPr id="3" name="Cada etapa deja una evidenci">
            <a:extLst xmlns:a="http://schemas.openxmlformats.org/drawingml/2006/main">
              <a:ext uri="{FF2B5EF4-FFF2-40B4-BE49-F238E27FC236}">
                <a16:creationId xmlns:a16="http://schemas.microsoft.com/office/drawing/2014/main" id="{6D978854-865A-487B-A6A0-30E16778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Cada etapa deja una evidencia útil para la decisión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5786887-57DE-4F78-A8BB-36A415C03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9A9C29FC-DF9C-4FFD-86B6-BE3E815A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5">
            <a:extLst xmlns:a="http://schemas.openxmlformats.org/drawingml/2006/main">
              <a:ext uri="{FF2B5EF4-FFF2-40B4-BE49-F238E27FC236}">
                <a16:creationId xmlns:a16="http://schemas.microsoft.com/office/drawing/2014/main" id="{2B148CFC-7738-4034-BE5D-FCFFF1FF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7" name="shape">
            <a:extLst xmlns:a="http://schemas.openxmlformats.org/drawingml/2006/main">
              <a:ext uri="{FF2B5EF4-FFF2-40B4-BE49-F238E27FC236}">
                <a16:creationId xmlns:a16="http://schemas.microsoft.com/office/drawing/2014/main" id="{926F6833-6320-45EC-9C9D-CFB5AADE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00488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etapa 01">
            <a:extLst xmlns:a="http://schemas.openxmlformats.org/drawingml/2006/main">
              <a:ext uri="{FF2B5EF4-FFF2-40B4-BE49-F238E27FC236}">
                <a16:creationId xmlns:a16="http://schemas.microsoft.com/office/drawing/2014/main" id="{5C4ACDDA-7D77-4E13-9954-00F0B7C2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CC714CFC-6D62-4BA0-B312-5D2DD242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Conócete">
            <a:extLst xmlns:a="http://schemas.openxmlformats.org/drawingml/2006/main">
              <a:ext uri="{FF2B5EF4-FFF2-40B4-BE49-F238E27FC236}">
                <a16:creationId xmlns:a16="http://schemas.microsoft.com/office/drawing/2014/main" id="{A0DD94E0-F3F0-4759-AB09-E5B33DE48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Conócete</a:t>
            </a:r>
          </a:p>
        </p:txBody>
      </p:sp>
      <p:sp>
        <p:nvSpPr>
          <p:cNvPr id="11" name="15 respuestas sobre interese">
            <a:extLst xmlns:a="http://schemas.openxmlformats.org/drawingml/2006/main">
              <a:ext uri="{FF2B5EF4-FFF2-40B4-BE49-F238E27FC236}">
                <a16:creationId xmlns:a16="http://schemas.microsoft.com/office/drawing/2014/main" id="{28B038C9-08F8-4137-960B-E4CC1875B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0522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15 respuestas sobre intereses</a:t>
            </a:r>
          </a:p>
        </p:txBody>
      </p:sp>
      <p:sp>
        <p:nvSpPr>
          <p:cNvPr id="12" name="etapa 02">
            <a:extLst xmlns:a="http://schemas.openxmlformats.org/drawingml/2006/main">
              <a:ext uri="{FF2B5EF4-FFF2-40B4-BE49-F238E27FC236}">
                <a16:creationId xmlns:a16="http://schemas.microsoft.com/office/drawing/2014/main" id="{33570FC5-0FB1-4C9B-BEDD-2DD92CA9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5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01F281F8-DD5F-46A9-B4D8-5216D9F42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05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Explora">
            <a:extLst xmlns:a="http://schemas.openxmlformats.org/drawingml/2006/main">
              <a:ext uri="{FF2B5EF4-FFF2-40B4-BE49-F238E27FC236}">
                <a16:creationId xmlns:a16="http://schemas.microsoft.com/office/drawing/2014/main" id="{30573DC1-771F-45BC-B4AD-D83523E4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Explora</a:t>
            </a:r>
          </a:p>
        </p:txBody>
      </p:sp>
      <p:sp>
        <p:nvSpPr>
          <p:cNvPr id="15" name="Opciones con razones de afin">
            <a:extLst xmlns:a="http://schemas.openxmlformats.org/drawingml/2006/main">
              <a:ext uri="{FF2B5EF4-FFF2-40B4-BE49-F238E27FC236}">
                <a16:creationId xmlns:a16="http://schemas.microsoft.com/office/drawing/2014/main" id="{A47B4443-EBD0-4305-9E0F-FBB5773C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70522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Opciones con razones de afinidad</a:t>
            </a:r>
          </a:p>
        </p:txBody>
      </p:sp>
      <p:sp>
        <p:nvSpPr>
          <p:cNvPr id="16" name="etapa 03">
            <a:extLst xmlns:a="http://schemas.openxmlformats.org/drawingml/2006/main">
              <a:ext uri="{FF2B5EF4-FFF2-40B4-BE49-F238E27FC236}">
                <a16:creationId xmlns:a16="http://schemas.microsoft.com/office/drawing/2014/main" id="{1B3E192C-055D-469F-8763-A3AA3264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05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73354BB6-34CA-422F-8CBB-7875B7E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905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Prueba">
            <a:extLst xmlns:a="http://schemas.openxmlformats.org/drawingml/2006/main">
              <a:ext uri="{FF2B5EF4-FFF2-40B4-BE49-F238E27FC236}">
                <a16:creationId xmlns:a16="http://schemas.microsoft.com/office/drawing/2014/main" id="{21A7FCA4-B887-455E-BA05-6282D65F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19" name="Casos breves de tareas">
            <a:extLst xmlns:a="http://schemas.openxmlformats.org/drawingml/2006/main">
              <a:ext uri="{FF2B5EF4-FFF2-40B4-BE49-F238E27FC236}">
                <a16:creationId xmlns:a16="http://schemas.microsoft.com/office/drawing/2014/main" id="{5F15D089-53B1-4572-9028-FD168E35A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70522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Casos breves de tareas</a:t>
            </a:r>
          </a:p>
        </p:txBody>
      </p:sp>
      <p:sp>
        <p:nvSpPr>
          <p:cNvPr id="20" name="etapa 04">
            <a:extLst xmlns:a="http://schemas.openxmlformats.org/drawingml/2006/main">
              <a:ext uri="{FF2B5EF4-FFF2-40B4-BE49-F238E27FC236}">
                <a16:creationId xmlns:a16="http://schemas.microsoft.com/office/drawing/2014/main" id="{B45B4ADB-F625-4260-958E-6875EF43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05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E3B3E86F-BD34-46C5-86CB-E407DB2B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05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Compara">
            <a:extLst xmlns:a="http://schemas.openxmlformats.org/drawingml/2006/main">
              <a:ext uri="{FF2B5EF4-FFF2-40B4-BE49-F238E27FC236}">
                <a16:creationId xmlns:a16="http://schemas.microsoft.com/office/drawing/2014/main" id="{E9BD25C7-641C-4868-9B60-835A80701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Compara</a:t>
            </a:r>
          </a:p>
        </p:txBody>
      </p:sp>
      <p:sp>
        <p:nvSpPr>
          <p:cNvPr id="23" name="Alternativas lado a lado">
            <a:extLst xmlns:a="http://schemas.openxmlformats.org/drawingml/2006/main">
              <a:ext uri="{FF2B5EF4-FFF2-40B4-BE49-F238E27FC236}">
                <a16:creationId xmlns:a16="http://schemas.microsoft.com/office/drawing/2014/main" id="{AE9AA533-340A-4495-8BC1-FEB7A042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0522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Alternativas lado a lado</a:t>
            </a:r>
          </a:p>
        </p:txBody>
      </p:sp>
      <p:sp>
        <p:nvSpPr>
          <p:cNvPr id="24" name="etapa 05">
            <a:extLst xmlns:a="http://schemas.openxmlformats.org/drawingml/2006/main">
              <a:ext uri="{FF2B5EF4-FFF2-40B4-BE49-F238E27FC236}">
                <a16:creationId xmlns:a16="http://schemas.microsoft.com/office/drawing/2014/main" id="{D07E5805-A60D-4036-ADB3-1128F145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051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05">
            <a:extLst xmlns:a="http://schemas.openxmlformats.org/drawingml/2006/main">
              <a:ext uri="{FF2B5EF4-FFF2-40B4-BE49-F238E27FC236}">
                <a16:creationId xmlns:a16="http://schemas.microsoft.com/office/drawing/2014/main" id="{751BAD93-006B-4D7A-9396-6E662CFC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2905125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6" name="Decide">
            <a:extLst xmlns:a="http://schemas.openxmlformats.org/drawingml/2006/main">
              <a:ext uri="{FF2B5EF4-FFF2-40B4-BE49-F238E27FC236}">
                <a16:creationId xmlns:a16="http://schemas.microsoft.com/office/drawing/2014/main" id="{AA95E037-32C0-4973-8EB5-17DF18E6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1971675"/>
            <a:ext cx="20383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Decide</a:t>
            </a:r>
          </a:p>
        </p:txBody>
      </p:sp>
      <p:sp>
        <p:nvSpPr>
          <p:cNvPr id="27" name="Reporte y preguntas siguient">
            <a:extLst xmlns:a="http://schemas.openxmlformats.org/drawingml/2006/main">
              <a:ext uri="{FF2B5EF4-FFF2-40B4-BE49-F238E27FC236}">
                <a16:creationId xmlns:a16="http://schemas.microsoft.com/office/drawing/2014/main" id="{75FA1F40-A452-4588-AB37-072236D8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5025" y="3705225"/>
            <a:ext cx="2038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Reporte y preguntas siguientes</a:t>
            </a:r>
          </a:p>
        </p:txBody>
      </p:sp>
      <p:sp>
        <p:nvSpPr>
          <p:cNvPr id="28" name="La simulación introduce una ">
            <a:extLst xmlns:a="http://schemas.openxmlformats.org/drawingml/2006/main">
              <a:ext uri="{FF2B5EF4-FFF2-40B4-BE49-F238E27FC236}">
                <a16:creationId xmlns:a16="http://schemas.microsoft.com/office/drawing/2014/main" id="{BEDA2D5A-2ACE-4E29-87BA-9E7C3709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10382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9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La simulación introduce una tarea. La decisión sigue en manos del estudiante.</a:t>
            </a:r>
          </a:p>
        </p:txBody>
      </p:sp>
    </p:spTree>
    <p:extLst>
      <p:ext uri="{BB962C8B-B14F-4D97-AF65-F5344CB8AC3E}">
        <p14:creationId xmlns:p14="http://schemas.microsoft.com/office/powerpoint/2010/main" val="1673428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hape">
            <a:extLst xmlns:a="http://schemas.openxmlformats.org/drawingml/2006/main">
              <a:ext uri="{FF2B5EF4-FFF2-40B4-BE49-F238E27FC236}">
                <a16:creationId xmlns:a16="http://schemas.microsoft.com/office/drawing/2014/main" id="{14E3EE8C-4EEE-4F89-9ABA-571313721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usiness Model Canvas B2C">
            <a:extLst xmlns:a="http://schemas.openxmlformats.org/drawingml/2006/main">
              <a:ext uri="{FF2B5EF4-FFF2-40B4-BE49-F238E27FC236}">
                <a16:creationId xmlns:a16="http://schemas.microsoft.com/office/drawing/2014/main" id="{10A93FD4-BD02-4F32-AB3C-8CC542BE3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Business Model Canvas B2C</a:t>
            </a:r>
          </a:p>
        </p:txBody>
      </p:sp>
      <p:sp>
        <p:nvSpPr>
          <p:cNvPr id="3" name="Nueve hipótesis del piloto e">
            <a:extLst xmlns:a="http://schemas.openxmlformats.org/drawingml/2006/main">
              <a:ext uri="{FF2B5EF4-FFF2-40B4-BE49-F238E27FC236}">
                <a16:creationId xmlns:a16="http://schemas.microsoft.com/office/drawing/2014/main" id="{6EFC4694-40DA-4858-BFE7-69CAF948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Nueve hipótesis del piloto en una sola vista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AC4B8700-65A4-4B4D-AA50-CE536303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81BCC98F-5042-44C2-89D0-4E74BB1C0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6">
            <a:extLst xmlns:a="http://schemas.openxmlformats.org/drawingml/2006/main">
              <a:ext uri="{FF2B5EF4-FFF2-40B4-BE49-F238E27FC236}">
                <a16:creationId xmlns:a16="http://schemas.microsoft.com/office/drawing/2014/main" id="{5154586D-A9A2-42AD-9EE5-F953BE7B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7" name="Socios clave">
            <a:extLst xmlns:a="http://schemas.openxmlformats.org/drawingml/2006/main">
              <a:ext uri="{FF2B5EF4-FFF2-40B4-BE49-F238E27FC236}">
                <a16:creationId xmlns:a16="http://schemas.microsoft.com/office/drawing/2014/main" id="{07F1B3CB-489B-47C0-8153-DF3FFDC1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2095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8" name="shape">
            <a:extLst xmlns:a="http://schemas.openxmlformats.org/drawingml/2006/main">
              <a:ext uri="{FF2B5EF4-FFF2-40B4-BE49-F238E27FC236}">
                <a16:creationId xmlns:a16="http://schemas.microsoft.com/office/drawing/2014/main" id="{03351B41-CAA0-4B92-B347-5CAF36B1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ocios clave">
            <a:extLst xmlns:a="http://schemas.openxmlformats.org/drawingml/2006/main">
              <a:ext uri="{FF2B5EF4-FFF2-40B4-BE49-F238E27FC236}">
                <a16:creationId xmlns:a16="http://schemas.microsoft.com/office/drawing/2014/main" id="{99316641-338C-48B6-B079-D3F0B6CB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18573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Socios clave</a:t>
            </a:r>
          </a:p>
        </p:txBody>
      </p:sp>
      <p:sp>
        <p:nvSpPr>
          <p:cNvPr id="10" name="Orientadores y profesionales">
            <a:extLst xmlns:a="http://schemas.openxmlformats.org/drawingml/2006/main">
              <a:ext uri="{FF2B5EF4-FFF2-40B4-BE49-F238E27FC236}">
                <a16:creationId xmlns:a16="http://schemas.microsoft.com/office/drawing/2014/main" id="{0C94F048-6180-4564-A75A-64A63BF8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14575"/>
            <a:ext cx="18192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Orientadores y profesionales para revisar los casos.</a:t>
            </a:r>
          </a:p>
        </p:txBody>
      </p:sp>
      <p:sp>
        <p:nvSpPr>
          <p:cNvPr id="11" name="Actividades clave">
            <a:extLst xmlns:a="http://schemas.openxmlformats.org/drawingml/2006/main">
              <a:ext uri="{FF2B5EF4-FFF2-40B4-BE49-F238E27FC236}">
                <a16:creationId xmlns:a16="http://schemas.microsoft.com/office/drawing/2014/main" id="{1620E9A7-2840-447D-9603-9DAB468F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66875"/>
            <a:ext cx="18097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F917FC72-89A3-47C9-A9CF-49556B217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66687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ctividades clave">
            <a:extLst xmlns:a="http://schemas.openxmlformats.org/drawingml/2006/main">
              <a:ext uri="{FF2B5EF4-FFF2-40B4-BE49-F238E27FC236}">
                <a16:creationId xmlns:a16="http://schemas.microsoft.com/office/drawing/2014/main" id="{78FF3DEC-B311-4626-A4C4-3D6AE14D9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185737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Actividades clave</a:t>
            </a:r>
          </a:p>
        </p:txBody>
      </p:sp>
      <p:sp>
        <p:nvSpPr>
          <p:cNvPr id="14" name="Diseñar casos, observar uso ">
            <a:extLst xmlns:a="http://schemas.openxmlformats.org/drawingml/2006/main">
              <a:ext uri="{FF2B5EF4-FFF2-40B4-BE49-F238E27FC236}">
                <a16:creationId xmlns:a16="http://schemas.microsoft.com/office/drawing/2014/main" id="{1F4F8649-6D6E-4E44-BBA0-FEFECCDC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314575"/>
            <a:ext cx="15335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Diseñar casos, observar uso y mejorar la ruta.</a:t>
            </a:r>
          </a:p>
        </p:txBody>
      </p:sp>
      <p:sp>
        <p:nvSpPr>
          <p:cNvPr id="15" name="Recursos clave">
            <a:extLst xmlns:a="http://schemas.openxmlformats.org/drawingml/2006/main">
              <a:ext uri="{FF2B5EF4-FFF2-40B4-BE49-F238E27FC236}">
                <a16:creationId xmlns:a16="http://schemas.microsoft.com/office/drawing/2014/main" id="{BBB83BDA-8C91-4F9F-A3BC-6F90D7A8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18097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324D4BBC-315C-474F-9AE5-1891DFF3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718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cursos clave">
            <a:extLst xmlns:a="http://schemas.openxmlformats.org/drawingml/2006/main">
              <a:ext uri="{FF2B5EF4-FFF2-40B4-BE49-F238E27FC236}">
                <a16:creationId xmlns:a16="http://schemas.microsoft.com/office/drawing/2014/main" id="{25E0306E-27DD-425B-B33F-7C15F04A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562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Recursos clave</a:t>
            </a:r>
          </a:p>
        </p:txBody>
      </p:sp>
      <p:sp>
        <p:nvSpPr>
          <p:cNvPr id="18" name="Plataforma, contenido y méto">
            <a:extLst xmlns:a="http://schemas.openxmlformats.org/drawingml/2006/main">
              <a:ext uri="{FF2B5EF4-FFF2-40B4-BE49-F238E27FC236}">
                <a16:creationId xmlns:a16="http://schemas.microsoft.com/office/drawing/2014/main" id="{EF834062-EDE9-4651-8B32-D3E4F83A2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019550"/>
            <a:ext cx="15335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Plataforma, contenido y método de exploración.</a:t>
            </a:r>
          </a:p>
        </p:txBody>
      </p:sp>
      <p:sp>
        <p:nvSpPr>
          <p:cNvPr id="19" name="Propuesta de valor">
            <a:extLst xmlns:a="http://schemas.openxmlformats.org/drawingml/2006/main">
              <a:ext uri="{FF2B5EF4-FFF2-40B4-BE49-F238E27FC236}">
                <a16:creationId xmlns:a16="http://schemas.microsoft.com/office/drawing/2014/main" id="{3623327F-FC68-49EA-913A-C9E017FD3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66875"/>
            <a:ext cx="2714625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FF9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20" name="shape">
            <a:extLst xmlns:a="http://schemas.openxmlformats.org/drawingml/2006/main">
              <a:ext uri="{FF2B5EF4-FFF2-40B4-BE49-F238E27FC236}">
                <a16:creationId xmlns:a16="http://schemas.microsoft.com/office/drawing/2014/main" id="{DF87025D-3EF5-407B-91B1-BE9A5814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1666875"/>
            <a:ext cx="27146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ropuesta de valor">
            <a:extLst xmlns:a="http://schemas.openxmlformats.org/drawingml/2006/main">
              <a:ext uri="{FF2B5EF4-FFF2-40B4-BE49-F238E27FC236}">
                <a16:creationId xmlns:a16="http://schemas.microsoft.com/office/drawing/2014/main" id="{2383786E-98E6-4E5A-8DD2-07C12BEB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857375"/>
            <a:ext cx="24479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Propuesta de valor</a:t>
            </a:r>
          </a:p>
        </p:txBody>
      </p:sp>
      <p:sp>
        <p:nvSpPr>
          <p:cNvPr id="22" name="El estudiante contrasta opci">
            <a:extLst xmlns:a="http://schemas.openxmlformats.org/drawingml/2006/main">
              <a:ext uri="{FF2B5EF4-FFF2-40B4-BE49-F238E27FC236}">
                <a16:creationId xmlns:a16="http://schemas.microsoft.com/office/drawing/2014/main" id="{08BCC7BD-90AD-41E2-AE71-3D1F1572B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314575"/>
            <a:ext cx="24384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El estudiante contrasta opciones al practicar una tarea y reflexionar sobre ella.</a:t>
            </a:r>
          </a:p>
        </p:txBody>
      </p:sp>
      <p:sp>
        <p:nvSpPr>
          <p:cNvPr id="23" name="Relación">
            <a:extLst xmlns:a="http://schemas.openxmlformats.org/drawingml/2006/main">
              <a:ext uri="{FF2B5EF4-FFF2-40B4-BE49-F238E27FC236}">
                <a16:creationId xmlns:a16="http://schemas.microsoft.com/office/drawing/2014/main" id="{1263F11B-A7B8-405C-91CB-D26BD5BB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66875"/>
            <a:ext cx="18097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24" name="shape">
            <a:extLst xmlns:a="http://schemas.openxmlformats.org/drawingml/2006/main">
              <a:ext uri="{FF2B5EF4-FFF2-40B4-BE49-F238E27FC236}">
                <a16:creationId xmlns:a16="http://schemas.microsoft.com/office/drawing/2014/main" id="{FBFFD3D8-7C20-4118-9261-D0248BE0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666875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lación">
            <a:extLst xmlns:a="http://schemas.openxmlformats.org/drawingml/2006/main">
              <a:ext uri="{FF2B5EF4-FFF2-40B4-BE49-F238E27FC236}">
                <a16:creationId xmlns:a16="http://schemas.microsoft.com/office/drawing/2014/main" id="{43171063-BE58-4A37-A643-F70747BDE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857375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Relación</a:t>
            </a:r>
          </a:p>
        </p:txBody>
      </p:sp>
      <p:sp>
        <p:nvSpPr>
          <p:cNvPr id="26" name="Recorrido autónomo y reporte">
            <a:extLst xmlns:a="http://schemas.openxmlformats.org/drawingml/2006/main">
              <a:ext uri="{FF2B5EF4-FFF2-40B4-BE49-F238E27FC236}">
                <a16:creationId xmlns:a16="http://schemas.microsoft.com/office/drawing/2014/main" id="{67AAB86C-A5F9-497B-A8D9-D5E5E3F5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14575"/>
            <a:ext cx="15335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Recorrido autónomo y reporte personal.</a:t>
            </a:r>
          </a:p>
        </p:txBody>
      </p:sp>
      <p:sp>
        <p:nvSpPr>
          <p:cNvPr id="27" name="Canales">
            <a:extLst xmlns:a="http://schemas.openxmlformats.org/drawingml/2006/main">
              <a:ext uri="{FF2B5EF4-FFF2-40B4-BE49-F238E27FC236}">
                <a16:creationId xmlns:a16="http://schemas.microsoft.com/office/drawing/2014/main" id="{42D7A901-3E43-4129-B22D-01AE0839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71850"/>
            <a:ext cx="1809750" cy="1590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28" name="shape">
            <a:extLst xmlns:a="http://schemas.openxmlformats.org/drawingml/2006/main">
              <a:ext uri="{FF2B5EF4-FFF2-40B4-BE49-F238E27FC236}">
                <a16:creationId xmlns:a16="http://schemas.microsoft.com/office/drawing/2014/main" id="{BD384151-2481-4D4E-9D18-E5D9C964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371850"/>
            <a:ext cx="1809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anales">
            <a:extLst xmlns:a="http://schemas.openxmlformats.org/drawingml/2006/main">
              <a:ext uri="{FF2B5EF4-FFF2-40B4-BE49-F238E27FC236}">
                <a16:creationId xmlns:a16="http://schemas.microsoft.com/office/drawing/2014/main" id="{BA403872-3138-4D19-9387-AAAD023A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562350"/>
            <a:ext cx="1543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Canales</a:t>
            </a:r>
          </a:p>
        </p:txBody>
      </p:sp>
      <p:sp>
        <p:nvSpPr>
          <p:cNvPr id="30" name="Web móvil y contenidos en re">
            <a:extLst xmlns:a="http://schemas.openxmlformats.org/drawingml/2006/main">
              <a:ext uri="{FF2B5EF4-FFF2-40B4-BE49-F238E27FC236}">
                <a16:creationId xmlns:a16="http://schemas.microsoft.com/office/drawing/2014/main" id="{C86EC153-B22B-405C-BC65-DCE0AB796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19550"/>
            <a:ext cx="1533525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Web móvil y contenidos en redes por probar.</a:t>
            </a:r>
          </a:p>
        </p:txBody>
      </p:sp>
      <p:sp>
        <p:nvSpPr>
          <p:cNvPr id="31" name="Segmento">
            <a:extLst xmlns:a="http://schemas.openxmlformats.org/drawingml/2006/main">
              <a:ext uri="{FF2B5EF4-FFF2-40B4-BE49-F238E27FC236}">
                <a16:creationId xmlns:a16="http://schemas.microsoft.com/office/drawing/2014/main" id="{72147FB1-5B47-4E62-A791-E40045157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666875"/>
            <a:ext cx="20955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32" name="shape">
            <a:extLst xmlns:a="http://schemas.openxmlformats.org/drawingml/2006/main">
              <a:ext uri="{FF2B5EF4-FFF2-40B4-BE49-F238E27FC236}">
                <a16:creationId xmlns:a16="http://schemas.microsoft.com/office/drawing/2014/main" id="{9C681941-40CE-44A6-9F12-49ABF2BF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1666875"/>
            <a:ext cx="2095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Segmento">
            <a:extLst xmlns:a="http://schemas.openxmlformats.org/drawingml/2006/main">
              <a:ext uri="{FF2B5EF4-FFF2-40B4-BE49-F238E27FC236}">
                <a16:creationId xmlns:a16="http://schemas.microsoft.com/office/drawing/2014/main" id="{A953635B-1EFE-4712-AAC2-108C9A932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1857375"/>
            <a:ext cx="1828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Segmento</a:t>
            </a:r>
          </a:p>
        </p:txBody>
      </p:sp>
      <p:sp>
        <p:nvSpPr>
          <p:cNvPr id="34" name="Estudiantes de secundaria qu">
            <a:extLst xmlns:a="http://schemas.openxmlformats.org/drawingml/2006/main">
              <a:ext uri="{FF2B5EF4-FFF2-40B4-BE49-F238E27FC236}">
                <a16:creationId xmlns:a16="http://schemas.microsoft.com/office/drawing/2014/main" id="{18424454-3472-4CEC-914F-85ECC12A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14575"/>
            <a:ext cx="1819275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Estudiantes de secundaria que comparan carreras.</a:t>
            </a:r>
          </a:p>
        </p:txBody>
      </p:sp>
      <p:sp>
        <p:nvSpPr>
          <p:cNvPr id="35" name="Costos">
            <a:extLst xmlns:a="http://schemas.openxmlformats.org/drawingml/2006/main">
              <a:ext uri="{FF2B5EF4-FFF2-40B4-BE49-F238E27FC236}">
                <a16:creationId xmlns:a16="http://schemas.microsoft.com/office/drawing/2014/main" id="{75E83285-8B5B-423D-83A0-7A1A7D7B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6810375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36" name="shape">
            <a:extLst xmlns:a="http://schemas.openxmlformats.org/drawingml/2006/main">
              <a:ext uri="{FF2B5EF4-FFF2-40B4-BE49-F238E27FC236}">
                <a16:creationId xmlns:a16="http://schemas.microsoft.com/office/drawing/2014/main" id="{65FBD4C4-3E7B-4245-A41B-858B4B8DA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76825"/>
            <a:ext cx="68103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stos">
            <a:extLst xmlns:a="http://schemas.openxmlformats.org/drawingml/2006/main">
              <a:ext uri="{FF2B5EF4-FFF2-40B4-BE49-F238E27FC236}">
                <a16:creationId xmlns:a16="http://schemas.microsoft.com/office/drawing/2014/main" id="{501888A3-0272-4264-8096-F7A4D56F2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162550"/>
            <a:ext cx="65436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Costos</a:t>
            </a:r>
          </a:p>
        </p:txBody>
      </p:sp>
      <p:sp>
        <p:nvSpPr>
          <p:cNvPr id="38" name="Desarrollo, revisión de cont">
            <a:extLst xmlns:a="http://schemas.openxmlformats.org/drawingml/2006/main">
              <a:ext uri="{FF2B5EF4-FFF2-40B4-BE49-F238E27FC236}">
                <a16:creationId xmlns:a16="http://schemas.microsoft.com/office/drawing/2014/main" id="{42325506-A551-44CA-A04A-04AFFABA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43550"/>
            <a:ext cx="65341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Desarrollo, revisión de contenido, alojamiento y difusión.</a:t>
            </a:r>
          </a:p>
        </p:txBody>
      </p:sp>
      <p:sp>
        <p:nvSpPr>
          <p:cNvPr id="39" name="Ingresos">
            <a:extLst xmlns:a="http://schemas.openxmlformats.org/drawingml/2006/main">
              <a:ext uri="{FF2B5EF4-FFF2-40B4-BE49-F238E27FC236}">
                <a16:creationId xmlns:a16="http://schemas.microsoft.com/office/drawing/2014/main" id="{0F832E5B-5955-419F-A9AB-D32840BE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76825"/>
            <a:ext cx="400050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FEA"/>
            </a:solidFill>
            <a:prstDash val="solid"/>
          </a:ln>
        </p:spPr>
      </p:sp>
      <p:sp>
        <p:nvSpPr>
          <p:cNvPr id="40" name="shape">
            <a:extLst xmlns:a="http://schemas.openxmlformats.org/drawingml/2006/main">
              <a:ext uri="{FF2B5EF4-FFF2-40B4-BE49-F238E27FC236}">
                <a16:creationId xmlns:a16="http://schemas.microsoft.com/office/drawing/2014/main" id="{7F12CEC4-011E-4474-BB04-6BD89599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5076825"/>
            <a:ext cx="4000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Ingresos">
            <a:extLst xmlns:a="http://schemas.openxmlformats.org/drawingml/2006/main">
              <a:ext uri="{FF2B5EF4-FFF2-40B4-BE49-F238E27FC236}">
                <a16:creationId xmlns:a16="http://schemas.microsoft.com/office/drawing/2014/main" id="{F7DE32B4-AB56-480E-BEF7-E87D360C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162550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Ingresos</a:t>
            </a:r>
          </a:p>
        </p:txBody>
      </p:sp>
      <p:sp>
        <p:nvSpPr>
          <p:cNvPr id="42" name="Pago único: hipótesis. Sin v">
            <a:extLst xmlns:a="http://schemas.openxmlformats.org/drawingml/2006/main">
              <a:ext uri="{FF2B5EF4-FFF2-40B4-BE49-F238E27FC236}">
                <a16:creationId xmlns:a16="http://schemas.microsoft.com/office/drawing/2014/main" id="{8E97E547-F018-4079-B3DD-2C883F8C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543550"/>
            <a:ext cx="3724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Pago único: hipótesis. Sin ventas actuales.</a:t>
            </a:r>
          </a:p>
        </p:txBody>
      </p:sp>
    </p:spTree>
    <p:extLst>
      <p:ext uri="{BB962C8B-B14F-4D97-AF65-F5344CB8AC3E}">
        <p14:creationId xmlns:p14="http://schemas.microsoft.com/office/powerpoint/2010/main" val="16809991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262DF6E2-E242-4639-A6A2-81CB65E49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or qué elegimos las 4P">
            <a:extLst xmlns:a="http://schemas.openxmlformats.org/drawingml/2006/main">
              <a:ext uri="{FF2B5EF4-FFF2-40B4-BE49-F238E27FC236}">
                <a16:creationId xmlns:a16="http://schemas.microsoft.com/office/drawing/2014/main" id="{C41F35CE-FC0A-46B1-B6CC-59428802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Por qué elegimos las 4P</a:t>
            </a:r>
          </a:p>
        </p:txBody>
      </p:sp>
      <p:sp>
        <p:nvSpPr>
          <p:cNvPr id="3" name="Sirven para definir decision">
            <a:extLst xmlns:a="http://schemas.openxmlformats.org/drawingml/2006/main">
              <a:ext uri="{FF2B5EF4-FFF2-40B4-BE49-F238E27FC236}">
                <a16:creationId xmlns:a16="http://schemas.microsoft.com/office/drawing/2014/main" id="{3354196D-0341-4690-A6AF-91EDF62C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Sirven para definir decisiones que el piloto puede mostrar y probar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9AAE068-259A-4691-AB49-89276392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753994F7-A94C-4DC5-9373-E40E0271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7">
            <a:extLst xmlns:a="http://schemas.openxmlformats.org/drawingml/2006/main">
              <a:ext uri="{FF2B5EF4-FFF2-40B4-BE49-F238E27FC236}">
                <a16:creationId xmlns:a16="http://schemas.microsoft.com/office/drawing/2014/main" id="{47E3D5CB-E50C-4BEE-89A4-59D80D0FF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4P">
            <a:extLst xmlns:a="http://schemas.openxmlformats.org/drawingml/2006/main">
              <a:ext uri="{FF2B5EF4-FFF2-40B4-BE49-F238E27FC236}">
                <a16:creationId xmlns:a16="http://schemas.microsoft.com/office/drawing/2014/main" id="{75608F1F-ED6D-4C77-B37A-EAF9AF7B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3095625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84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40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4P</a:t>
            </a:r>
          </a:p>
        </p:txBody>
      </p:sp>
      <p:sp>
        <p:nvSpPr>
          <p:cNvPr id="8" name="Producto">
            <a:extLst xmlns:a="http://schemas.openxmlformats.org/drawingml/2006/main">
              <a:ext uri="{FF2B5EF4-FFF2-40B4-BE49-F238E27FC236}">
                <a16:creationId xmlns:a16="http://schemas.microsoft.com/office/drawing/2014/main" id="{74EAE6CD-D993-4E76-8411-9A33FBDC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180975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9" name="Precio">
            <a:extLst xmlns:a="http://schemas.openxmlformats.org/drawingml/2006/main">
              <a:ext uri="{FF2B5EF4-FFF2-40B4-BE49-F238E27FC236}">
                <a16:creationId xmlns:a16="http://schemas.microsoft.com/office/drawing/2014/main" id="{2DD46382-78DA-4095-9418-51A4BFC8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1809750"/>
            <a:ext cx="2886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Precio</a:t>
            </a:r>
          </a:p>
        </p:txBody>
      </p:sp>
      <p:sp>
        <p:nvSpPr>
          <p:cNvPr id="10" name="Plaza">
            <a:extLst xmlns:a="http://schemas.openxmlformats.org/drawingml/2006/main">
              <a:ext uri="{FF2B5EF4-FFF2-40B4-BE49-F238E27FC236}">
                <a16:creationId xmlns:a16="http://schemas.microsoft.com/office/drawing/2014/main" id="{C163C05D-F64E-448A-B41D-465747D2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3086100"/>
            <a:ext cx="29337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Plaza</a:t>
            </a:r>
          </a:p>
        </p:txBody>
      </p:sp>
      <p:sp>
        <p:nvSpPr>
          <p:cNvPr id="11" name="Promoción">
            <a:extLst xmlns:a="http://schemas.openxmlformats.org/drawingml/2006/main">
              <a:ext uri="{FF2B5EF4-FFF2-40B4-BE49-F238E27FC236}">
                <a16:creationId xmlns:a16="http://schemas.microsoft.com/office/drawing/2014/main" id="{D4DEF16D-B01D-43C6-8013-4A438D83F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3086100"/>
            <a:ext cx="28860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Promoción</a:t>
            </a:r>
          </a:p>
        </p:txBody>
      </p:sp>
      <p:sp>
        <p:nvSpPr>
          <p:cNvPr id="12" name="shape">
            <a:extLst xmlns:a="http://schemas.openxmlformats.org/drawingml/2006/main">
              <a:ext uri="{FF2B5EF4-FFF2-40B4-BE49-F238E27FC236}">
                <a16:creationId xmlns:a16="http://schemas.microsoft.com/office/drawing/2014/main" id="{BED93EE4-BE9B-41F0-9357-8A31133B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24125"/>
            <a:ext cx="6858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EE214900-E1B9-4150-9516-355B4C1FA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28575" cy="2333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77A3E29C-A04F-468D-9958-F0CE4F42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19650"/>
            <a:ext cx="109251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Las 5C ayudan a investigar e">
            <a:extLst xmlns:a="http://schemas.openxmlformats.org/drawingml/2006/main">
              <a:ext uri="{FF2B5EF4-FFF2-40B4-BE49-F238E27FC236}">
                <a16:creationId xmlns:a16="http://schemas.microsoft.com/office/drawing/2014/main" id="{AA908C11-AA90-4A9F-85FB-4933A92B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76825"/>
            <a:ext cx="1057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Las 5C ayudan a investigar el entorno. Hoy necesitamos explicar la oferta, el acceso y lo que vamos a validar.</a:t>
            </a:r>
          </a:p>
        </p:txBody>
      </p:sp>
    </p:spTree>
    <p:extLst>
      <p:ext uri="{BB962C8B-B14F-4D97-AF65-F5344CB8AC3E}">
        <p14:creationId xmlns:p14="http://schemas.microsoft.com/office/powerpoint/2010/main" val="168865530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hape">
            <a:extLst xmlns:a="http://schemas.openxmlformats.org/drawingml/2006/main">
              <a:ext uri="{FF2B5EF4-FFF2-40B4-BE49-F238E27FC236}">
                <a16:creationId xmlns:a16="http://schemas.microsoft.com/office/drawing/2014/main" id="{59237E10-FD05-4816-B341-9CDE799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Las 4P en el piloto">
            <a:extLst xmlns:a="http://schemas.openxmlformats.org/drawingml/2006/main">
              <a:ext uri="{FF2B5EF4-FFF2-40B4-BE49-F238E27FC236}">
                <a16:creationId xmlns:a16="http://schemas.microsoft.com/office/drawing/2014/main" id="{8BE9FC47-8ABE-49DE-ADBB-D881CC4B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Las 4P en el piloto</a:t>
            </a:r>
          </a:p>
        </p:txBody>
      </p:sp>
      <p:sp>
        <p:nvSpPr>
          <p:cNvPr id="3" name="Decisión actual e hipótesis ">
            <a:extLst xmlns:a="http://schemas.openxmlformats.org/drawingml/2006/main">
              <a:ext uri="{FF2B5EF4-FFF2-40B4-BE49-F238E27FC236}">
                <a16:creationId xmlns:a16="http://schemas.microsoft.com/office/drawing/2014/main" id="{08CA016A-743C-4783-9C6F-E4158949F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Decisión actual e hipótesis comercial, claramente separadas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C6313FB6-EE23-4826-B03C-FDCA645D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18683AFA-F1C2-485F-91B2-94545276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8">
            <a:extLst xmlns:a="http://schemas.openxmlformats.org/drawingml/2006/main">
              <a:ext uri="{FF2B5EF4-FFF2-40B4-BE49-F238E27FC236}">
                <a16:creationId xmlns:a16="http://schemas.microsoft.com/office/drawing/2014/main" id="{63E02F3C-6109-401F-B966-BA17756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E1E798D-A8B1-455D-A28D-4C11642B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DUCTO">
            <a:extLst xmlns:a="http://schemas.openxmlformats.org/drawingml/2006/main">
              <a:ext uri="{FF2B5EF4-FFF2-40B4-BE49-F238E27FC236}">
                <a16:creationId xmlns:a16="http://schemas.microsoft.com/office/drawing/2014/main" id="{C73A0DC3-C771-47D8-A6F1-00204CC5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69545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PRODUCTO</a:t>
            </a:r>
          </a:p>
        </p:txBody>
      </p:sp>
      <p:sp>
        <p:nvSpPr>
          <p:cNvPr id="9" name="Ruta web con cuestionario, c">
            <a:extLst xmlns:a="http://schemas.openxmlformats.org/drawingml/2006/main">
              <a:ext uri="{FF2B5EF4-FFF2-40B4-BE49-F238E27FC236}">
                <a16:creationId xmlns:a16="http://schemas.microsoft.com/office/drawing/2014/main" id="{33FF5102-8A74-41BC-BCB3-65F361D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95450"/>
            <a:ext cx="7019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Ruta web con cuestionario, casos breves, comparador y reporte personal.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93F2368A-748E-4928-8473-0927D303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10487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FEB0F75E-9E80-42E6-AF63-44191638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PRECIO">
            <a:extLst xmlns:a="http://schemas.openxmlformats.org/drawingml/2006/main">
              <a:ext uri="{FF2B5EF4-FFF2-40B4-BE49-F238E27FC236}">
                <a16:creationId xmlns:a16="http://schemas.microsoft.com/office/drawing/2014/main" id="{009DF565-AADD-4EAC-810C-9F5C7670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79082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PRECIO</a:t>
            </a:r>
          </a:p>
        </p:txBody>
      </p:sp>
      <p:sp>
        <p:nvSpPr>
          <p:cNvPr id="13" name="Acceso gratuito en el piloto">
            <a:extLst xmlns:a="http://schemas.openxmlformats.org/drawingml/2006/main">
              <a:ext uri="{FF2B5EF4-FFF2-40B4-BE49-F238E27FC236}">
                <a16:creationId xmlns:a16="http://schemas.microsoft.com/office/drawing/2014/main" id="{272223BE-8192-4074-85D5-C7F62AD7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790825"/>
            <a:ext cx="7019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Acceso gratuito en el piloto. Pago único futuro por validar.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BAF64223-57E3-46EB-A8CA-BA66C021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10487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B9CD0F3D-02C7-4E7A-9D75-2FC5B252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PLAZA">
            <a:extLst xmlns:a="http://schemas.openxmlformats.org/drawingml/2006/main">
              <a:ext uri="{FF2B5EF4-FFF2-40B4-BE49-F238E27FC236}">
                <a16:creationId xmlns:a16="http://schemas.microsoft.com/office/drawing/2014/main" id="{173E2D35-4CD5-482E-8490-BADA5449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86200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PLAZA</a:t>
            </a:r>
          </a:p>
        </p:txBody>
      </p:sp>
      <p:sp>
        <p:nvSpPr>
          <p:cNvPr id="17" name="Acceso directo desde un nave">
            <a:extLst xmlns:a="http://schemas.openxmlformats.org/drawingml/2006/main">
              <a:ext uri="{FF2B5EF4-FFF2-40B4-BE49-F238E27FC236}">
                <a16:creationId xmlns:a16="http://schemas.microsoft.com/office/drawing/2014/main" id="{69ABD81C-7347-40AE-ADBA-5C1AD1BE6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886200"/>
            <a:ext cx="7019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Acceso directo desde un navegador móvil, sin cuenta en la demostración.</a:t>
            </a:r>
          </a:p>
        </p:txBody>
      </p:sp>
      <p:sp>
        <p:nvSpPr>
          <p:cNvPr id="18" name="shape">
            <a:extLst xmlns:a="http://schemas.openxmlformats.org/drawingml/2006/main">
              <a:ext uri="{FF2B5EF4-FFF2-40B4-BE49-F238E27FC236}">
                <a16:creationId xmlns:a16="http://schemas.microsoft.com/office/drawing/2014/main" id="{10C8801D-E278-421B-8484-D8FFFC7C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0125"/>
            <a:ext cx="104870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EB504174-99CA-4BAE-80CD-F32698092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8157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PROMOCIÓN">
            <a:extLst xmlns:a="http://schemas.openxmlformats.org/drawingml/2006/main">
              <a:ext uri="{FF2B5EF4-FFF2-40B4-BE49-F238E27FC236}">
                <a16:creationId xmlns:a16="http://schemas.microsoft.com/office/drawing/2014/main" id="{CBE39E50-AC9D-48A1-9959-AD692D06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981575"/>
            <a:ext cx="23241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PROMOCIÓN</a:t>
            </a:r>
          </a:p>
        </p:txBody>
      </p:sp>
      <p:sp>
        <p:nvSpPr>
          <p:cNvPr id="21" name="Probar mensajes y videos bre">
            <a:extLst xmlns:a="http://schemas.openxmlformats.org/drawingml/2006/main">
              <a:ext uri="{FF2B5EF4-FFF2-40B4-BE49-F238E27FC236}">
                <a16:creationId xmlns:a16="http://schemas.microsoft.com/office/drawing/2014/main" id="{8779AA24-63D8-45F9-8115-FC8A9A89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981575"/>
            <a:ext cx="701992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Probar mensajes y videos breves para estudiantes que comparan carreras.</a:t>
            </a:r>
          </a:p>
        </p:txBody>
      </p:sp>
    </p:spTree>
    <p:extLst>
      <p:ext uri="{BB962C8B-B14F-4D97-AF65-F5344CB8AC3E}">
        <p14:creationId xmlns:p14="http://schemas.microsoft.com/office/powerpoint/2010/main" val="939317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hape">
            <a:extLst xmlns:a="http://schemas.openxmlformats.org/drawingml/2006/main">
              <a:ext uri="{FF2B5EF4-FFF2-40B4-BE49-F238E27FC236}">
                <a16:creationId xmlns:a16="http://schemas.microsoft.com/office/drawing/2014/main" id="{896826F2-8BC3-47AB-A030-E29405D3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é muestra el MVP hoy">
            <a:extLst xmlns:a="http://schemas.openxmlformats.org/drawingml/2006/main">
              <a:ext uri="{FF2B5EF4-FFF2-40B4-BE49-F238E27FC236}">
                <a16:creationId xmlns:a16="http://schemas.microsoft.com/office/drawing/2014/main" id="{D57078D5-CA72-4440-902F-F592B822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Qué muestra el MVP hoy</a:t>
            </a:r>
          </a:p>
        </p:txBody>
      </p:sp>
      <p:sp>
        <p:nvSpPr>
          <p:cNvPr id="3" name="Un recorrido completo que pe">
            <a:extLst xmlns:a="http://schemas.openxmlformats.org/drawingml/2006/main">
              <a:ext uri="{FF2B5EF4-FFF2-40B4-BE49-F238E27FC236}">
                <a16:creationId xmlns:a16="http://schemas.microsoft.com/office/drawing/2014/main" id="{7F545328-88BC-4869-A07C-AB315EBA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Un recorrido completo que permite observar el interés y las dudas del estudiante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F2DE9838-7617-436F-98D5-124D03E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BC77E462-B558-45EE-9CE8-9FB766F1B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09">
            <a:extLst xmlns:a="http://schemas.openxmlformats.org/drawingml/2006/main">
              <a:ext uri="{FF2B5EF4-FFF2-40B4-BE49-F238E27FC236}">
                <a16:creationId xmlns:a16="http://schemas.microsoft.com/office/drawing/2014/main" id="{DDFD1E2D-FA36-4C20-8B42-26415690E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15">
            <a:extLst xmlns:a="http://schemas.openxmlformats.org/drawingml/2006/main">
              <a:ext uri="{FF2B5EF4-FFF2-40B4-BE49-F238E27FC236}">
                <a16:creationId xmlns:a16="http://schemas.microsoft.com/office/drawing/2014/main" id="{D1FE3BED-DB1A-4FF4-BD2B-2D4C68F8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19275"/>
            <a:ext cx="2266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preguntas">
            <a:extLst xmlns:a="http://schemas.openxmlformats.org/drawingml/2006/main">
              <a:ext uri="{FF2B5EF4-FFF2-40B4-BE49-F238E27FC236}">
                <a16:creationId xmlns:a16="http://schemas.microsoft.com/office/drawing/2014/main" id="{091AC30A-855E-4062-8E5E-0597E117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2143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preguntas</a:t>
            </a:r>
          </a:p>
        </p:txBody>
      </p:sp>
      <p:sp>
        <p:nvSpPr>
          <p:cNvPr id="9" name="10">
            <a:extLst xmlns:a="http://schemas.openxmlformats.org/drawingml/2006/main">
              <a:ext uri="{FF2B5EF4-FFF2-40B4-BE49-F238E27FC236}">
                <a16:creationId xmlns:a16="http://schemas.microsoft.com/office/drawing/2014/main" id="{AC3FAE4E-6493-436A-90B8-95A676A2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1819275"/>
            <a:ext cx="22669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perfiles de ejemplo">
            <a:extLst xmlns:a="http://schemas.openxmlformats.org/drawingml/2006/main">
              <a:ext uri="{FF2B5EF4-FFF2-40B4-BE49-F238E27FC236}">
                <a16:creationId xmlns:a16="http://schemas.microsoft.com/office/drawing/2014/main" id="{7E199846-F736-483A-BC83-7DFE6EFCE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00350"/>
            <a:ext cx="2895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perfiles de ejemplo</a:t>
            </a:r>
          </a:p>
        </p:txBody>
      </p:sp>
      <p:sp>
        <p:nvSpPr>
          <p:cNvPr id="11" name="4">
            <a:extLst xmlns:a="http://schemas.openxmlformats.org/drawingml/2006/main">
              <a:ext uri="{FF2B5EF4-FFF2-40B4-BE49-F238E27FC236}">
                <a16:creationId xmlns:a16="http://schemas.microsoft.com/office/drawing/2014/main" id="{E68F982F-A001-4AF8-B189-22793169A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19275"/>
            <a:ext cx="2381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850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5850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2" name="casos breves">
            <a:extLst xmlns:a="http://schemas.openxmlformats.org/drawingml/2006/main">
              <a:ext uri="{FF2B5EF4-FFF2-40B4-BE49-F238E27FC236}">
                <a16:creationId xmlns:a16="http://schemas.microsoft.com/office/drawing/2014/main" id="{4113D0A7-9B33-4D5A-9B9B-A1D47B53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800350"/>
            <a:ext cx="30099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casos breves</a:t>
            </a:r>
          </a:p>
        </p:txBody>
      </p:sp>
      <p:sp>
        <p:nvSpPr>
          <p:cNvPr id="13" name="shape">
            <a:extLst xmlns:a="http://schemas.openxmlformats.org/drawingml/2006/main">
              <a:ext uri="{FF2B5EF4-FFF2-40B4-BE49-F238E27FC236}">
                <a16:creationId xmlns:a16="http://schemas.microsoft.com/office/drawing/2014/main" id="{0C71C80A-2830-4835-8A07-DFFECB8B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52850"/>
            <a:ext cx="1050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mparación de carreras">
            <a:extLst xmlns:a="http://schemas.openxmlformats.org/drawingml/2006/main">
              <a:ext uri="{FF2B5EF4-FFF2-40B4-BE49-F238E27FC236}">
                <a16:creationId xmlns:a16="http://schemas.microsoft.com/office/drawing/2014/main" id="{9CC8A74A-C2B3-49F0-B639-750FA5F6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33850"/>
            <a:ext cx="47148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Comparación de carreras</a:t>
            </a:r>
          </a:p>
        </p:txBody>
      </p:sp>
      <p:sp>
        <p:nvSpPr>
          <p:cNvPr id="15" name="Reporte personal imprimible">
            <a:extLst xmlns:a="http://schemas.openxmlformats.org/drawingml/2006/main">
              <a:ext uri="{FF2B5EF4-FFF2-40B4-BE49-F238E27FC236}">
                <a16:creationId xmlns:a16="http://schemas.microsoft.com/office/drawing/2014/main" id="{99B9F7FA-862C-40E7-B683-027B484E7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133850"/>
            <a:ext cx="5372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Reporte personal imprimible</a:t>
            </a:r>
          </a:p>
        </p:txBody>
      </p:sp>
      <p:sp>
        <p:nvSpPr>
          <p:cNvPr id="16" name="El piloto guarda el avance e">
            <a:extLst xmlns:a="http://schemas.openxmlformats.org/drawingml/2006/main">
              <a:ext uri="{FF2B5EF4-FFF2-40B4-BE49-F238E27FC236}">
                <a16:creationId xmlns:a16="http://schemas.microsoft.com/office/drawing/2014/main" id="{B1C98E1F-53E5-4420-A944-9806E4DD9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38750"/>
            <a:ext cx="103536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El piloto guarda el avance en este navegador. La calidad de sus recomendaciones y casos aún requiere validación.</a:t>
            </a:r>
          </a:p>
        </p:txBody>
      </p:sp>
    </p:spTree>
    <p:extLst>
      <p:ext uri="{BB962C8B-B14F-4D97-AF65-F5344CB8AC3E}">
        <p14:creationId xmlns:p14="http://schemas.microsoft.com/office/powerpoint/2010/main" val="16685314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shape">
            <a:extLst xmlns:a="http://schemas.openxmlformats.org/drawingml/2006/main">
              <a:ext uri="{FF2B5EF4-FFF2-40B4-BE49-F238E27FC236}">
                <a16:creationId xmlns:a16="http://schemas.microsoft.com/office/drawing/2014/main" id="{03A19FF6-5500-4D8F-8E0B-BB6F4EE59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Qué debemos validar">
            <a:extLst xmlns:a="http://schemas.openxmlformats.org/drawingml/2006/main">
              <a:ext uri="{FF2B5EF4-FFF2-40B4-BE49-F238E27FC236}">
                <a16:creationId xmlns:a16="http://schemas.microsoft.com/office/drawing/2014/main" id="{DC113312-693F-4C56-95EE-1B26CD87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Qué debemos validar</a:t>
            </a:r>
          </a:p>
        </p:txBody>
      </p:sp>
      <p:sp>
        <p:nvSpPr>
          <p:cNvPr id="3" name="Las preguntas que convierten">
            <a:extLst xmlns:a="http://schemas.openxmlformats.org/drawingml/2006/main">
              <a:ext uri="{FF2B5EF4-FFF2-40B4-BE49-F238E27FC236}">
                <a16:creationId xmlns:a16="http://schemas.microsoft.com/office/drawing/2014/main" id="{466A0EFC-32EE-400B-AF1C-ABF55BA6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Las preguntas que convierten el piloto en aprendizaje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B024CB69-E7F7-403E-B74E-455721BE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63FB236E-9C66-4382-BEFF-CFDC20174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10">
            <a:extLst xmlns:a="http://schemas.openxmlformats.org/drawingml/2006/main">
              <a:ext uri="{FF2B5EF4-FFF2-40B4-BE49-F238E27FC236}">
                <a16:creationId xmlns:a16="http://schemas.microsoft.com/office/drawing/2014/main" id="{D9B4F60E-34C2-484C-A182-7486C0E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FE26F87-88F9-4C5E-BF97-C6B31E33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Problema">
            <a:extLst xmlns:a="http://schemas.openxmlformats.org/drawingml/2006/main">
              <a:ext uri="{FF2B5EF4-FFF2-40B4-BE49-F238E27FC236}">
                <a16:creationId xmlns:a16="http://schemas.microsoft.com/office/drawing/2014/main" id="{9570570B-26D7-4345-A0F0-CB8F35C3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90875"/>
            <a:ext cx="319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Problema</a:t>
            </a:r>
          </a:p>
        </p:txBody>
      </p:sp>
      <p:sp>
        <p:nvSpPr>
          <p:cNvPr id="9" name="Entrevistar a estudiantes y ">
            <a:extLst xmlns:a="http://schemas.openxmlformats.org/drawingml/2006/main">
              <a:ext uri="{FF2B5EF4-FFF2-40B4-BE49-F238E27FC236}">
                <a16:creationId xmlns:a16="http://schemas.microsoft.com/office/drawing/2014/main" id="{E7F546F2-9C11-457E-8365-78CB1C52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095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Entrevistar a estudiantes y observar cómo comparan carreras hoy.</a:t>
            </a:r>
          </a:p>
        </p:txBody>
      </p:sp>
      <p:sp>
        <p:nvSpPr>
          <p:cNvPr id="10" name="shape">
            <a:extLst xmlns:a="http://schemas.openxmlformats.org/drawingml/2006/main">
              <a:ext uri="{FF2B5EF4-FFF2-40B4-BE49-F238E27FC236}">
                <a16:creationId xmlns:a16="http://schemas.microsoft.com/office/drawing/2014/main" id="{64E3A0E2-7063-4DDB-977C-95117C733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57400"/>
            <a:ext cx="9525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6DBFFE90-554E-4727-8916-F3CE0F39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574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Uso">
            <a:extLst xmlns:a="http://schemas.openxmlformats.org/drawingml/2006/main">
              <a:ext uri="{FF2B5EF4-FFF2-40B4-BE49-F238E27FC236}">
                <a16:creationId xmlns:a16="http://schemas.microsoft.com/office/drawing/2014/main" id="{F6DDDCDE-B2DE-44F0-8713-F52BEF657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90875"/>
            <a:ext cx="319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Uso</a:t>
            </a:r>
          </a:p>
        </p:txBody>
      </p:sp>
      <p:sp>
        <p:nvSpPr>
          <p:cNvPr id="13" name="Medir finalización, casos pr">
            <a:extLst xmlns:a="http://schemas.openxmlformats.org/drawingml/2006/main">
              <a:ext uri="{FF2B5EF4-FFF2-40B4-BE49-F238E27FC236}">
                <a16:creationId xmlns:a16="http://schemas.microsoft.com/office/drawing/2014/main" id="{E0F0FF38-89B5-4EB7-8267-10C0208E5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924300"/>
            <a:ext cx="3095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Medir finalización, casos probados y utilidad del reporte.</a:t>
            </a:r>
          </a:p>
        </p:txBody>
      </p:sp>
      <p:sp>
        <p:nvSpPr>
          <p:cNvPr id="14" name="shape">
            <a:extLst xmlns:a="http://schemas.openxmlformats.org/drawingml/2006/main">
              <a:ext uri="{FF2B5EF4-FFF2-40B4-BE49-F238E27FC236}">
                <a16:creationId xmlns:a16="http://schemas.microsoft.com/office/drawing/2014/main" id="{5A1FAA30-D6D9-4B4F-836A-5DE22C301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057400"/>
            <a:ext cx="9525" cy="3209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660DA3D8-6ADF-410C-AAF2-6703E01D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57400"/>
            <a:ext cx="31432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8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48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Negocio">
            <a:extLst xmlns:a="http://schemas.openxmlformats.org/drawingml/2006/main">
              <a:ext uri="{FF2B5EF4-FFF2-40B4-BE49-F238E27FC236}">
                <a16:creationId xmlns:a16="http://schemas.microsoft.com/office/drawing/2014/main" id="{5466BD33-FB82-4D90-B139-328859215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90875"/>
            <a:ext cx="319087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Negocio</a:t>
            </a:r>
          </a:p>
        </p:txBody>
      </p:sp>
      <p:sp>
        <p:nvSpPr>
          <p:cNvPr id="17" name="Probar una oferta de pago ún">
            <a:extLst xmlns:a="http://schemas.openxmlformats.org/drawingml/2006/main">
              <a:ext uri="{FF2B5EF4-FFF2-40B4-BE49-F238E27FC236}">
                <a16:creationId xmlns:a16="http://schemas.microsoft.com/office/drawing/2014/main" id="{09DEE470-8632-4F02-9673-105E1E8CA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24300"/>
            <a:ext cx="309562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Probar una oferta de pago único con una decisión real.</a:t>
            </a:r>
          </a:p>
        </p:txBody>
      </p:sp>
      <p:sp>
        <p:nvSpPr>
          <p:cNvPr id="18" name="Hoy estas son preguntas de v">
            <a:extLst xmlns:a="http://schemas.openxmlformats.org/drawingml/2006/main">
              <a:ext uri="{FF2B5EF4-FFF2-40B4-BE49-F238E27FC236}">
                <a16:creationId xmlns:a16="http://schemas.microsoft.com/office/drawing/2014/main" id="{C49F7B32-E8E7-4926-BBE2-329FFC51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572125"/>
            <a:ext cx="103917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Hoy estas son preguntas de validación, no resultados obtenidos.</a:t>
            </a:r>
          </a:p>
        </p:txBody>
      </p:sp>
    </p:spTree>
    <p:extLst>
      <p:ext uri="{BB962C8B-B14F-4D97-AF65-F5344CB8AC3E}">
        <p14:creationId xmlns:p14="http://schemas.microsoft.com/office/powerpoint/2010/main" val="18362880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shape">
            <a:extLst xmlns:a="http://schemas.openxmlformats.org/drawingml/2006/main">
              <a:ext uri="{FF2B5EF4-FFF2-40B4-BE49-F238E27FC236}">
                <a16:creationId xmlns:a16="http://schemas.microsoft.com/office/drawing/2014/main" id="{1A55F648-C8D5-4BE1-A927-3F7B3B61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mostración en vivo">
            <a:extLst xmlns:a="http://schemas.openxmlformats.org/drawingml/2006/main">
              <a:ext uri="{FF2B5EF4-FFF2-40B4-BE49-F238E27FC236}">
                <a16:creationId xmlns:a16="http://schemas.microsoft.com/office/drawing/2014/main" id="{C1A9DBE7-FF4D-433A-93B1-9A979243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"/>
            <a:ext cx="1066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Demostración en vivo</a:t>
            </a:r>
          </a:p>
        </p:txBody>
      </p:sp>
      <p:sp>
        <p:nvSpPr>
          <p:cNvPr id="3" name="Un recorrido de cinco minuto">
            <a:extLst xmlns:a="http://schemas.openxmlformats.org/drawingml/2006/main">
              <a:ext uri="{FF2B5EF4-FFF2-40B4-BE49-F238E27FC236}">
                <a16:creationId xmlns:a16="http://schemas.microsoft.com/office/drawing/2014/main" id="{20CB8686-8CFB-4F64-ACB5-F21D78D2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57275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Un recorrido de cinco minutos para conectar análisis y producto</a:t>
            </a:r>
          </a:p>
        </p:txBody>
      </p:sp>
      <p:sp>
        <p:nvSpPr>
          <p:cNvPr id="4" name="shape">
            <a:extLst xmlns:a="http://schemas.openxmlformats.org/drawingml/2006/main">
              <a:ext uri="{FF2B5EF4-FFF2-40B4-BE49-F238E27FC236}">
                <a16:creationId xmlns:a16="http://schemas.microsoft.com/office/drawing/2014/main" id="{E935D67A-962D-467E-B00E-CE54A1C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ocaRuta">
            <a:extLst xmlns:a="http://schemas.openxmlformats.org/drawingml/2006/main">
              <a:ext uri="{FF2B5EF4-FFF2-40B4-BE49-F238E27FC236}">
                <a16:creationId xmlns:a16="http://schemas.microsoft.com/office/drawing/2014/main" id="{F68F3189-1C3B-4820-8106-1108856CE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75" b="1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69AA"/>
                </a:solidFill>
                <a:latin typeface="Arial"/>
                <a:ea typeface="Arial"/>
                <a:cs typeface="Arial"/>
              </a:rPr>
              <a:t>VocaRuta</a:t>
            </a:r>
          </a:p>
        </p:txBody>
      </p:sp>
      <p:sp>
        <p:nvSpPr>
          <p:cNvPr id="6" name="11">
            <a:extLst xmlns:a="http://schemas.openxmlformats.org/drawingml/2006/main">
              <a:ext uri="{FF2B5EF4-FFF2-40B4-BE49-F238E27FC236}">
                <a16:creationId xmlns:a16="http://schemas.microsoft.com/office/drawing/2014/main" id="{EF370C80-8F4E-4E18-A233-6E2FF213E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91275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75" b="0">
                <a:solidFill>
                  <a:srgbClr val="566B7C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66B7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7" name="demo 1">
            <a:extLst xmlns:a="http://schemas.openxmlformats.org/drawingml/2006/main">
              <a:ext uri="{FF2B5EF4-FFF2-40B4-BE49-F238E27FC236}">
                <a16:creationId xmlns:a16="http://schemas.microsoft.com/office/drawing/2014/main" id="{0304B42C-6D5F-46A6-83BF-CF3F48EB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1">
            <a:extLst xmlns:a="http://schemas.openxmlformats.org/drawingml/2006/main">
              <a:ext uri="{FF2B5EF4-FFF2-40B4-BE49-F238E27FC236}">
                <a16:creationId xmlns:a16="http://schemas.microsoft.com/office/drawing/2014/main" id="{28409270-5222-4B12-BB2C-9F5FC58F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63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9" name="Inicio">
            <a:extLst xmlns:a="http://schemas.openxmlformats.org/drawingml/2006/main">
              <a:ext uri="{FF2B5EF4-FFF2-40B4-BE49-F238E27FC236}">
                <a16:creationId xmlns:a16="http://schemas.microsoft.com/office/drawing/2014/main" id="{DC64043A-486C-4532-A723-C2F732FF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178117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10" name="A quién ayuda y qué promete">
            <a:extLst xmlns:a="http://schemas.openxmlformats.org/drawingml/2006/main">
              <a:ext uri="{FF2B5EF4-FFF2-40B4-BE49-F238E27FC236}">
                <a16:creationId xmlns:a16="http://schemas.microsoft.com/office/drawing/2014/main" id="{72B49ED7-1917-4311-A5E3-F0B69550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81175"/>
            <a:ext cx="565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A quién ayuda y qué promete</a:t>
            </a:r>
          </a:p>
        </p:txBody>
      </p:sp>
      <p:sp>
        <p:nvSpPr>
          <p:cNvPr id="11" name="shape">
            <a:extLst xmlns:a="http://schemas.openxmlformats.org/drawingml/2006/main">
              <a:ext uri="{FF2B5EF4-FFF2-40B4-BE49-F238E27FC236}">
                <a16:creationId xmlns:a16="http://schemas.microsoft.com/office/drawing/2014/main" id="{385694D2-C8A9-4D55-8276-69684D655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686050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emo 2">
            <a:extLst xmlns:a="http://schemas.openxmlformats.org/drawingml/2006/main">
              <a:ext uri="{FF2B5EF4-FFF2-40B4-BE49-F238E27FC236}">
                <a16:creationId xmlns:a16="http://schemas.microsoft.com/office/drawing/2014/main" id="{E5C82CB6-323F-4AC2-B32C-12ECC828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2">
            <a:extLst xmlns:a="http://schemas.openxmlformats.org/drawingml/2006/main">
              <a:ext uri="{FF2B5EF4-FFF2-40B4-BE49-F238E27FC236}">
                <a16:creationId xmlns:a16="http://schemas.microsoft.com/office/drawing/2014/main" id="{A47F115E-D95A-40AA-925C-9E9ED3B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33700"/>
            <a:ext cx="63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4" name="Conócete">
            <a:extLst xmlns:a="http://schemas.openxmlformats.org/drawingml/2006/main">
              <a:ext uri="{FF2B5EF4-FFF2-40B4-BE49-F238E27FC236}">
                <a16:creationId xmlns:a16="http://schemas.microsoft.com/office/drawing/2014/main" id="{B05467C0-5498-4A2A-A1F9-B3B389AD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283845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Conócete</a:t>
            </a:r>
          </a:p>
        </p:txBody>
      </p:sp>
      <p:sp>
        <p:nvSpPr>
          <p:cNvPr id="15" name="Respuestas y afinidad inicia">
            <a:extLst xmlns:a="http://schemas.openxmlformats.org/drawingml/2006/main">
              <a:ext uri="{FF2B5EF4-FFF2-40B4-BE49-F238E27FC236}">
                <a16:creationId xmlns:a16="http://schemas.microsoft.com/office/drawing/2014/main" id="{633B6CF3-45F4-401E-91D2-F0C33CB2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838450"/>
            <a:ext cx="565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Respuestas y afinidad inicial</a:t>
            </a:r>
          </a:p>
        </p:txBody>
      </p:sp>
      <p:sp>
        <p:nvSpPr>
          <p:cNvPr id="16" name="shape">
            <a:extLst xmlns:a="http://schemas.openxmlformats.org/drawingml/2006/main">
              <a:ext uri="{FF2B5EF4-FFF2-40B4-BE49-F238E27FC236}">
                <a16:creationId xmlns:a16="http://schemas.microsoft.com/office/drawing/2014/main" id="{A266960B-FAE2-4A82-834F-84CFEC9F6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743325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demo 3">
            <a:extLst xmlns:a="http://schemas.openxmlformats.org/drawingml/2006/main">
              <a:ext uri="{FF2B5EF4-FFF2-40B4-BE49-F238E27FC236}">
                <a16:creationId xmlns:a16="http://schemas.microsoft.com/office/drawing/2014/main" id="{FF10967A-65AA-495C-B31A-8815DF02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3">
            <a:extLst xmlns:a="http://schemas.openxmlformats.org/drawingml/2006/main">
              <a:ext uri="{FF2B5EF4-FFF2-40B4-BE49-F238E27FC236}">
                <a16:creationId xmlns:a16="http://schemas.microsoft.com/office/drawing/2014/main" id="{5F7D4003-4ACE-4297-8A97-AFA25B35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90975"/>
            <a:ext cx="63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Prueba">
            <a:extLst xmlns:a="http://schemas.openxmlformats.org/drawingml/2006/main">
              <a:ext uri="{FF2B5EF4-FFF2-40B4-BE49-F238E27FC236}">
                <a16:creationId xmlns:a16="http://schemas.microsoft.com/office/drawing/2014/main" id="{CC0C6D0B-3453-4978-A2C8-0A2E3F12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389572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Prueba</a:t>
            </a:r>
          </a:p>
        </p:txBody>
      </p:sp>
      <p:sp>
        <p:nvSpPr>
          <p:cNvPr id="20" name="Un caso con reflexión person">
            <a:extLst xmlns:a="http://schemas.openxmlformats.org/drawingml/2006/main">
              <a:ext uri="{FF2B5EF4-FFF2-40B4-BE49-F238E27FC236}">
                <a16:creationId xmlns:a16="http://schemas.microsoft.com/office/drawing/2014/main" id="{8E401C4A-8F64-4187-A0E7-6C495E95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895725"/>
            <a:ext cx="565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Un caso con reflexión personal</a:t>
            </a:r>
          </a:p>
        </p:txBody>
      </p:sp>
      <p:sp>
        <p:nvSpPr>
          <p:cNvPr id="21" name="shape">
            <a:extLst xmlns:a="http://schemas.openxmlformats.org/drawingml/2006/main">
              <a:ext uri="{FF2B5EF4-FFF2-40B4-BE49-F238E27FC236}">
                <a16:creationId xmlns:a16="http://schemas.microsoft.com/office/drawing/2014/main" id="{4584FF8F-8067-4D98-A785-54CF699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00600"/>
            <a:ext cx="9258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demo 4">
            <a:extLst xmlns:a="http://schemas.openxmlformats.org/drawingml/2006/main">
              <a:ext uri="{FF2B5EF4-FFF2-40B4-BE49-F238E27FC236}">
                <a16:creationId xmlns:a16="http://schemas.microsoft.com/office/drawing/2014/main" id="{5666CADA-23B0-4159-B5C0-54BAE2CC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38175" cy="6381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4">
            <a:extLst xmlns:a="http://schemas.openxmlformats.org/drawingml/2006/main">
              <a:ext uri="{FF2B5EF4-FFF2-40B4-BE49-F238E27FC236}">
                <a16:creationId xmlns:a16="http://schemas.microsoft.com/office/drawing/2014/main" id="{DBA1C873-08C2-4E04-89C6-1E8FEC881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48250"/>
            <a:ext cx="63817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4" name="Compara y decide">
            <a:extLst xmlns:a="http://schemas.openxmlformats.org/drawingml/2006/main">
              <a:ext uri="{FF2B5EF4-FFF2-40B4-BE49-F238E27FC236}">
                <a16:creationId xmlns:a16="http://schemas.microsoft.com/office/drawing/2014/main" id="{11499FED-5154-4265-862E-51F12311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953000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2A43"/>
                </a:solidFill>
                <a:latin typeface="Arial"/>
                <a:ea typeface="Arial"/>
                <a:cs typeface="Arial"/>
              </a:rPr>
              <a:t>Compara y decide</a:t>
            </a:r>
          </a:p>
        </p:txBody>
      </p:sp>
      <p:sp>
        <p:nvSpPr>
          <p:cNvPr id="25" name="Reporte y preguntas para inv">
            <a:extLst xmlns:a="http://schemas.openxmlformats.org/drawingml/2006/main">
              <a:ext uri="{FF2B5EF4-FFF2-40B4-BE49-F238E27FC236}">
                <a16:creationId xmlns:a16="http://schemas.microsoft.com/office/drawing/2014/main" id="{062C338B-61C3-4FF5-BA08-E1AEBC43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953000"/>
            <a:ext cx="56578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8364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8364F"/>
                </a:solidFill>
                <a:latin typeface="Arial"/>
                <a:ea typeface="Arial"/>
                <a:cs typeface="Arial"/>
              </a:rPr>
              <a:t>Reporte y preguntas para investigar</a:t>
            </a:r>
          </a:p>
        </p:txBody>
      </p:sp>
    </p:spTree>
    <p:extLst>
      <p:ext uri="{BB962C8B-B14F-4D97-AF65-F5344CB8AC3E}">
        <p14:creationId xmlns:p14="http://schemas.microsoft.com/office/powerpoint/2010/main" val="599836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431BA-A68F-47E5-9F88-A5B6FD31F9C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8e0f33ec78450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Una decisión mejor empieza c">
            <a:extLst xmlns:a="http://schemas.openxmlformats.org/drawingml/2006/main">
              <a:ext uri="{FF2B5EF4-FFF2-40B4-BE49-F238E27FC236}">
                <a16:creationId xmlns:a16="http://schemas.microsoft.com/office/drawing/2014/main" id="{43D14F3D-82E1-45B2-B11F-865DD826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95425"/>
            <a:ext cx="5810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Una decisión mejor empieza con una experiencia más concreta.</a:t>
            </a:r>
          </a:p>
        </p:txBody>
      </p:sp>
      <p:sp>
        <p:nvSpPr>
          <p:cNvPr id="3" name="shape">
            <a:extLst xmlns:a="http://schemas.openxmlformats.org/drawingml/2006/main">
              <a:ext uri="{FF2B5EF4-FFF2-40B4-BE49-F238E27FC236}">
                <a16:creationId xmlns:a16="http://schemas.microsoft.com/office/drawing/2014/main" id="{F51991FD-116E-4481-8B51-2B71F9B6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19575"/>
            <a:ext cx="952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VocaRuta ayuda a explorar, p">
            <a:extLst xmlns:a="http://schemas.openxmlformats.org/drawingml/2006/main">
              <a:ext uri="{FF2B5EF4-FFF2-40B4-BE49-F238E27FC236}">
                <a16:creationId xmlns:a16="http://schemas.microsoft.com/office/drawing/2014/main" id="{0E6A79AE-7A11-4E2A-9D07-6CD5DCF2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05325"/>
            <a:ext cx="54959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VocaRuta ayuda a explorar, probar y comparar.</a:t>
            </a:r>
          </a:p>
        </p:txBody>
      </p:sp>
      <p:sp>
        <p:nvSpPr>
          <p:cNvPr id="5" name="Gracias">
            <a:extLst xmlns:a="http://schemas.openxmlformats.org/drawingml/2006/main">
              <a:ext uri="{FF2B5EF4-FFF2-40B4-BE49-F238E27FC236}">
                <a16:creationId xmlns:a16="http://schemas.microsoft.com/office/drawing/2014/main" id="{5828B732-3ED3-4579-959C-F6BE8C4B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0388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425" b="1">
                <a:solidFill>
                  <a:srgbClr val="D9EFF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425" b="1">
                <a:solidFill>
                  <a:srgbClr val="D9EFF9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D9EFF9"/>
                </a:solidFill>
                <a:latin typeface="Arial"/>
                <a:ea typeface="Arial"/>
                <a:cs typeface="Arial"/>
              </a:rPr>
              <a:t>Gracias</a:t>
            </a:r>
          </a:p>
        </p:txBody>
      </p:sp>
    </p:spTree>
    <p:extLst>
      <p:ext uri="{BB962C8B-B14F-4D97-AF65-F5344CB8AC3E}">
        <p14:creationId xmlns:p14="http://schemas.microsoft.com/office/powerpoint/2010/main" val="3180433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2026-10-14T05:06:50.2830000Z</dcterms:created>
  <dcterms:modified xsi:type="dcterms:W3CDTF">2026-10-14T05:06:50.2830000Z</dcterms:modified>
</coreProperties>
</file>